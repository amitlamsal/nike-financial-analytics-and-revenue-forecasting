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72" r:id="rId5"/>
    <p:sldId id="273" r:id="rId6"/>
    <p:sldId id="274" r:id="rId7"/>
    <p:sldId id="275" r:id="rId8"/>
    <p:sldId id="276" r:id="rId9"/>
    <p:sldId id="277" r:id="rId10"/>
    <p:sldId id="279" r:id="rId11"/>
    <p:sldId id="278" r:id="rId12"/>
    <p:sldId id="280" r:id="rId13"/>
    <p:sldId id="281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5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70183-4775-44C3-9C87-74F80F8B611C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9AB4E75D-2B03-41A6-BF8E-86F493519BC0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How has been the NIKE’s Revenue and Expenses trend ? </a:t>
          </a:r>
        </a:p>
      </dgm:t>
    </dgm:pt>
    <dgm:pt modelId="{BA2D065A-EC23-44BD-88A1-035A2FD98030}" type="parTrans" cxnId="{53F70CD5-8091-4164-A5F0-B43F8E1695C1}">
      <dgm:prSet/>
      <dgm:spPr/>
      <dgm:t>
        <a:bodyPr/>
        <a:lstStyle/>
        <a:p>
          <a:endParaRPr lang="en-GB"/>
        </a:p>
      </dgm:t>
    </dgm:pt>
    <dgm:pt modelId="{07AB1ADE-66D9-4F4D-8B09-11FFC8181D85}" type="sibTrans" cxnId="{53F70CD5-8091-4164-A5F0-B43F8E1695C1}">
      <dgm:prSet/>
      <dgm:spPr/>
      <dgm:t>
        <a:bodyPr/>
        <a:lstStyle/>
        <a:p>
          <a:endParaRPr lang="en-GB"/>
        </a:p>
      </dgm:t>
    </dgm:pt>
    <dgm:pt modelId="{F74C1103-1677-4B0D-A996-33CDD73ADEDF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How has Profit margin trend changed over time?</a:t>
          </a:r>
        </a:p>
      </dgm:t>
    </dgm:pt>
    <dgm:pt modelId="{B2C91564-D67D-4BA0-936B-5148FCC33215}" type="parTrans" cxnId="{40B3CB76-70C0-4EE3-83B6-745B56F4AAC8}">
      <dgm:prSet/>
      <dgm:spPr/>
      <dgm:t>
        <a:bodyPr/>
        <a:lstStyle/>
        <a:p>
          <a:endParaRPr lang="en-GB"/>
        </a:p>
      </dgm:t>
    </dgm:pt>
    <dgm:pt modelId="{FC745ED2-DC38-4B65-B6BF-C77B9CF2B14F}" type="sibTrans" cxnId="{40B3CB76-70C0-4EE3-83B6-745B56F4AAC8}">
      <dgm:prSet/>
      <dgm:spPr/>
      <dgm:t>
        <a:bodyPr/>
        <a:lstStyle/>
        <a:p>
          <a:endParaRPr lang="en-GB"/>
        </a:p>
      </dgm:t>
    </dgm:pt>
    <dgm:pt modelId="{AD3CE75E-2610-4F33-8825-BC38B40817B8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How favourable is NIKE’s Liquidity position?  </a:t>
          </a:r>
        </a:p>
      </dgm:t>
    </dgm:pt>
    <dgm:pt modelId="{80402B3D-BC23-4275-8ED1-42C2C589A36D}" type="parTrans" cxnId="{6AF21799-A86A-4EF3-BD51-BACC6ADA0736}">
      <dgm:prSet/>
      <dgm:spPr/>
      <dgm:t>
        <a:bodyPr/>
        <a:lstStyle/>
        <a:p>
          <a:endParaRPr lang="en-GB"/>
        </a:p>
      </dgm:t>
    </dgm:pt>
    <dgm:pt modelId="{1A4C5722-DF10-41BB-A4CF-4D8C7939F2B7}" type="sibTrans" cxnId="{6AF21799-A86A-4EF3-BD51-BACC6ADA0736}">
      <dgm:prSet/>
      <dgm:spPr/>
      <dgm:t>
        <a:bodyPr/>
        <a:lstStyle/>
        <a:p>
          <a:endParaRPr lang="en-GB"/>
        </a:p>
      </dgm:t>
    </dgm:pt>
    <dgm:pt modelId="{CA93DE60-2873-40DF-8357-C2BCC21226AB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Comparison of Assets, Liabilities and Equity over time.</a:t>
          </a:r>
        </a:p>
      </dgm:t>
    </dgm:pt>
    <dgm:pt modelId="{86F01695-C472-4582-9B57-2CD11C18EBB7}" type="parTrans" cxnId="{F5A5143B-0F6C-41A6-9CAD-D503D3F46502}">
      <dgm:prSet/>
      <dgm:spPr/>
      <dgm:t>
        <a:bodyPr/>
        <a:lstStyle/>
        <a:p>
          <a:endParaRPr lang="en-GB"/>
        </a:p>
      </dgm:t>
    </dgm:pt>
    <dgm:pt modelId="{130657DB-76EF-4AA6-9E29-78890701C708}" type="sibTrans" cxnId="{F5A5143B-0F6C-41A6-9CAD-D503D3F46502}">
      <dgm:prSet/>
      <dgm:spPr/>
      <dgm:t>
        <a:bodyPr/>
        <a:lstStyle/>
        <a:p>
          <a:endParaRPr lang="en-GB"/>
        </a:p>
      </dgm:t>
    </dgm:pt>
    <dgm:pt modelId="{981BC8EF-56A2-41E5-96B1-BFEF559914E6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Comparison of Actual Revenue with Industry Average. </a:t>
          </a:r>
        </a:p>
      </dgm:t>
    </dgm:pt>
    <dgm:pt modelId="{D642F147-8702-4312-9C5A-B6F4EF7C1BA6}" type="parTrans" cxnId="{4B2E4D65-CDE6-4122-BBD9-0E973DD15A97}">
      <dgm:prSet/>
      <dgm:spPr/>
      <dgm:t>
        <a:bodyPr/>
        <a:lstStyle/>
        <a:p>
          <a:endParaRPr lang="en-GB"/>
        </a:p>
      </dgm:t>
    </dgm:pt>
    <dgm:pt modelId="{9EE4C7DD-6FE4-4B78-B13E-D80760BB580B}" type="sibTrans" cxnId="{4B2E4D65-CDE6-4122-BBD9-0E973DD15A97}">
      <dgm:prSet/>
      <dgm:spPr/>
      <dgm:t>
        <a:bodyPr/>
        <a:lstStyle/>
        <a:p>
          <a:endParaRPr lang="en-GB"/>
        </a:p>
      </dgm:t>
    </dgm:pt>
    <dgm:pt modelId="{ED92DC5A-ABA0-4DC5-ACA7-04AD4163CB1F}" type="pres">
      <dgm:prSet presAssocID="{B6470183-4775-44C3-9C87-74F80F8B611C}" presName="linear" presStyleCnt="0">
        <dgm:presLayoutVars>
          <dgm:dir/>
          <dgm:animLvl val="lvl"/>
          <dgm:resizeHandles val="exact"/>
        </dgm:presLayoutVars>
      </dgm:prSet>
      <dgm:spPr/>
    </dgm:pt>
    <dgm:pt modelId="{51A39B84-A95D-4E65-A296-A9663E25BD5D}" type="pres">
      <dgm:prSet presAssocID="{9AB4E75D-2B03-41A6-BF8E-86F493519BC0}" presName="parentLin" presStyleCnt="0"/>
      <dgm:spPr/>
    </dgm:pt>
    <dgm:pt modelId="{248BB723-A8D2-40A8-86A6-2236785F7807}" type="pres">
      <dgm:prSet presAssocID="{9AB4E75D-2B03-41A6-BF8E-86F493519BC0}" presName="parentLeftMargin" presStyleLbl="node1" presStyleIdx="0" presStyleCnt="5"/>
      <dgm:spPr/>
    </dgm:pt>
    <dgm:pt modelId="{592853D1-0FAA-4C02-AC01-F6044C1C10BC}" type="pres">
      <dgm:prSet presAssocID="{9AB4E75D-2B03-41A6-BF8E-86F493519B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A910CDE-C09A-44A8-9295-B5BA77CD8ACD}" type="pres">
      <dgm:prSet presAssocID="{9AB4E75D-2B03-41A6-BF8E-86F493519BC0}" presName="negativeSpace" presStyleCnt="0"/>
      <dgm:spPr/>
    </dgm:pt>
    <dgm:pt modelId="{0E99E6FA-D855-46E5-B674-E48CBF17F832}" type="pres">
      <dgm:prSet presAssocID="{9AB4E75D-2B03-41A6-BF8E-86F493519BC0}" presName="childText" presStyleLbl="conFgAcc1" presStyleIdx="0" presStyleCnt="5">
        <dgm:presLayoutVars>
          <dgm:bulletEnabled val="1"/>
        </dgm:presLayoutVars>
      </dgm:prSet>
      <dgm:spPr/>
    </dgm:pt>
    <dgm:pt modelId="{2BE41D99-D375-4EFD-92AD-12BD661D4E07}" type="pres">
      <dgm:prSet presAssocID="{07AB1ADE-66D9-4F4D-8B09-11FFC8181D85}" presName="spaceBetweenRectangles" presStyleCnt="0"/>
      <dgm:spPr/>
    </dgm:pt>
    <dgm:pt modelId="{B0A6A6CE-E242-4F6F-902A-E5371CF80D62}" type="pres">
      <dgm:prSet presAssocID="{F74C1103-1677-4B0D-A996-33CDD73ADEDF}" presName="parentLin" presStyleCnt="0"/>
      <dgm:spPr/>
    </dgm:pt>
    <dgm:pt modelId="{BE3E9A18-CC54-4440-B3C6-8C22E5ED5B0F}" type="pres">
      <dgm:prSet presAssocID="{F74C1103-1677-4B0D-A996-33CDD73ADEDF}" presName="parentLeftMargin" presStyleLbl="node1" presStyleIdx="0" presStyleCnt="5"/>
      <dgm:spPr/>
    </dgm:pt>
    <dgm:pt modelId="{806436B8-DAAD-407B-A326-41CB48346E76}" type="pres">
      <dgm:prSet presAssocID="{F74C1103-1677-4B0D-A996-33CDD73ADED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A731215-5667-48CE-89DE-6EB163BFED48}" type="pres">
      <dgm:prSet presAssocID="{F74C1103-1677-4B0D-A996-33CDD73ADEDF}" presName="negativeSpace" presStyleCnt="0"/>
      <dgm:spPr/>
    </dgm:pt>
    <dgm:pt modelId="{A3C34040-CD10-4ED8-A734-34223A7C188A}" type="pres">
      <dgm:prSet presAssocID="{F74C1103-1677-4B0D-A996-33CDD73ADEDF}" presName="childText" presStyleLbl="conFgAcc1" presStyleIdx="1" presStyleCnt="5">
        <dgm:presLayoutVars>
          <dgm:bulletEnabled val="1"/>
        </dgm:presLayoutVars>
      </dgm:prSet>
      <dgm:spPr/>
    </dgm:pt>
    <dgm:pt modelId="{EF7BD375-94C2-4C1A-8A4A-686EFB885048}" type="pres">
      <dgm:prSet presAssocID="{FC745ED2-DC38-4B65-B6BF-C77B9CF2B14F}" presName="spaceBetweenRectangles" presStyleCnt="0"/>
      <dgm:spPr/>
    </dgm:pt>
    <dgm:pt modelId="{C0682DAB-EF77-4027-90C6-9F044175B931}" type="pres">
      <dgm:prSet presAssocID="{AD3CE75E-2610-4F33-8825-BC38B40817B8}" presName="parentLin" presStyleCnt="0"/>
      <dgm:spPr/>
    </dgm:pt>
    <dgm:pt modelId="{A43CF97C-2364-4BCE-B74B-2A73E98D3171}" type="pres">
      <dgm:prSet presAssocID="{AD3CE75E-2610-4F33-8825-BC38B40817B8}" presName="parentLeftMargin" presStyleLbl="node1" presStyleIdx="1" presStyleCnt="5"/>
      <dgm:spPr/>
    </dgm:pt>
    <dgm:pt modelId="{B8DBED88-E7AC-4ADB-9EFF-8EE3F4E81681}" type="pres">
      <dgm:prSet presAssocID="{AD3CE75E-2610-4F33-8825-BC38B40817B8}" presName="parentText" presStyleLbl="node1" presStyleIdx="2" presStyleCnt="5" custLinFactNeighborY="5521">
        <dgm:presLayoutVars>
          <dgm:chMax val="0"/>
          <dgm:bulletEnabled val="1"/>
        </dgm:presLayoutVars>
      </dgm:prSet>
      <dgm:spPr/>
    </dgm:pt>
    <dgm:pt modelId="{5693E6A0-782F-49AB-A94D-7AE75A1E11F5}" type="pres">
      <dgm:prSet presAssocID="{AD3CE75E-2610-4F33-8825-BC38B40817B8}" presName="negativeSpace" presStyleCnt="0"/>
      <dgm:spPr/>
    </dgm:pt>
    <dgm:pt modelId="{976B97D8-B022-4B85-9567-490E472A73E1}" type="pres">
      <dgm:prSet presAssocID="{AD3CE75E-2610-4F33-8825-BC38B40817B8}" presName="childText" presStyleLbl="conFgAcc1" presStyleIdx="2" presStyleCnt="5">
        <dgm:presLayoutVars>
          <dgm:bulletEnabled val="1"/>
        </dgm:presLayoutVars>
      </dgm:prSet>
      <dgm:spPr/>
    </dgm:pt>
    <dgm:pt modelId="{80FA7130-35E2-4617-AEA6-9929728BB0DE}" type="pres">
      <dgm:prSet presAssocID="{1A4C5722-DF10-41BB-A4CF-4D8C7939F2B7}" presName="spaceBetweenRectangles" presStyleCnt="0"/>
      <dgm:spPr/>
    </dgm:pt>
    <dgm:pt modelId="{FAA13A0B-3801-48A5-8168-0BC6E771FCE2}" type="pres">
      <dgm:prSet presAssocID="{CA93DE60-2873-40DF-8357-C2BCC21226AB}" presName="parentLin" presStyleCnt="0"/>
      <dgm:spPr/>
    </dgm:pt>
    <dgm:pt modelId="{90725022-4B5B-4BA4-ACED-FC3CABD164FC}" type="pres">
      <dgm:prSet presAssocID="{CA93DE60-2873-40DF-8357-C2BCC21226AB}" presName="parentLeftMargin" presStyleLbl="node1" presStyleIdx="2" presStyleCnt="5"/>
      <dgm:spPr/>
    </dgm:pt>
    <dgm:pt modelId="{2C5DB0D3-93E3-4B8A-B333-6870B8E909F5}" type="pres">
      <dgm:prSet presAssocID="{CA93DE60-2873-40DF-8357-C2BCC21226A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EC458D0-B817-41C7-8B36-182976300B95}" type="pres">
      <dgm:prSet presAssocID="{CA93DE60-2873-40DF-8357-C2BCC21226AB}" presName="negativeSpace" presStyleCnt="0"/>
      <dgm:spPr/>
    </dgm:pt>
    <dgm:pt modelId="{95891BBD-995A-49B3-8256-7BB5F8DBFEDC}" type="pres">
      <dgm:prSet presAssocID="{CA93DE60-2873-40DF-8357-C2BCC21226AB}" presName="childText" presStyleLbl="conFgAcc1" presStyleIdx="3" presStyleCnt="5">
        <dgm:presLayoutVars>
          <dgm:bulletEnabled val="1"/>
        </dgm:presLayoutVars>
      </dgm:prSet>
      <dgm:spPr/>
    </dgm:pt>
    <dgm:pt modelId="{2F2F4AB2-917D-4BF5-8A9E-519475300EDA}" type="pres">
      <dgm:prSet presAssocID="{130657DB-76EF-4AA6-9E29-78890701C708}" presName="spaceBetweenRectangles" presStyleCnt="0"/>
      <dgm:spPr/>
    </dgm:pt>
    <dgm:pt modelId="{63E0161C-BE7F-4A5F-9342-111A1CCD48CA}" type="pres">
      <dgm:prSet presAssocID="{981BC8EF-56A2-41E5-96B1-BFEF559914E6}" presName="parentLin" presStyleCnt="0"/>
      <dgm:spPr/>
    </dgm:pt>
    <dgm:pt modelId="{11B70EAB-405E-4383-8472-6822CAD8B6FF}" type="pres">
      <dgm:prSet presAssocID="{981BC8EF-56A2-41E5-96B1-BFEF559914E6}" presName="parentLeftMargin" presStyleLbl="node1" presStyleIdx="3" presStyleCnt="5"/>
      <dgm:spPr/>
    </dgm:pt>
    <dgm:pt modelId="{254D5B97-20E5-4191-BAD6-107A777E9AFE}" type="pres">
      <dgm:prSet presAssocID="{981BC8EF-56A2-41E5-96B1-BFEF559914E6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1FDCB22-4E80-41B9-AC95-3CB13588EF03}" type="pres">
      <dgm:prSet presAssocID="{981BC8EF-56A2-41E5-96B1-BFEF559914E6}" presName="negativeSpace" presStyleCnt="0"/>
      <dgm:spPr/>
    </dgm:pt>
    <dgm:pt modelId="{442A9787-627C-448E-A6AE-351DA210C6CB}" type="pres">
      <dgm:prSet presAssocID="{981BC8EF-56A2-41E5-96B1-BFEF559914E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7F05304-1B4A-41B1-BB8E-BED2AA6F43EE}" type="presOf" srcId="{981BC8EF-56A2-41E5-96B1-BFEF559914E6}" destId="{11B70EAB-405E-4383-8472-6822CAD8B6FF}" srcOrd="0" destOrd="0" presId="urn:microsoft.com/office/officeart/2005/8/layout/list1"/>
    <dgm:cxn modelId="{211C2B07-84A6-4910-AAC7-5927E4B68D01}" type="presOf" srcId="{AD3CE75E-2610-4F33-8825-BC38B40817B8}" destId="{A43CF97C-2364-4BCE-B74B-2A73E98D3171}" srcOrd="0" destOrd="0" presId="urn:microsoft.com/office/officeart/2005/8/layout/list1"/>
    <dgm:cxn modelId="{B06F7610-CBC0-4D16-935E-EC11E96C7A9F}" type="presOf" srcId="{CA93DE60-2873-40DF-8357-C2BCC21226AB}" destId="{2C5DB0D3-93E3-4B8A-B333-6870B8E909F5}" srcOrd="1" destOrd="0" presId="urn:microsoft.com/office/officeart/2005/8/layout/list1"/>
    <dgm:cxn modelId="{F5A5143B-0F6C-41A6-9CAD-D503D3F46502}" srcId="{B6470183-4775-44C3-9C87-74F80F8B611C}" destId="{CA93DE60-2873-40DF-8357-C2BCC21226AB}" srcOrd="3" destOrd="0" parTransId="{86F01695-C472-4582-9B57-2CD11C18EBB7}" sibTransId="{130657DB-76EF-4AA6-9E29-78890701C708}"/>
    <dgm:cxn modelId="{2C9B2761-AFBF-4750-AA8F-430F0B7C0713}" type="presOf" srcId="{9AB4E75D-2B03-41A6-BF8E-86F493519BC0}" destId="{248BB723-A8D2-40A8-86A6-2236785F7807}" srcOrd="0" destOrd="0" presId="urn:microsoft.com/office/officeart/2005/8/layout/list1"/>
    <dgm:cxn modelId="{36ED1062-BB58-4CCB-83AA-791AE9997E0A}" type="presOf" srcId="{CA93DE60-2873-40DF-8357-C2BCC21226AB}" destId="{90725022-4B5B-4BA4-ACED-FC3CABD164FC}" srcOrd="0" destOrd="0" presId="urn:microsoft.com/office/officeart/2005/8/layout/list1"/>
    <dgm:cxn modelId="{4B2E4D65-CDE6-4122-BBD9-0E973DD15A97}" srcId="{B6470183-4775-44C3-9C87-74F80F8B611C}" destId="{981BC8EF-56A2-41E5-96B1-BFEF559914E6}" srcOrd="4" destOrd="0" parTransId="{D642F147-8702-4312-9C5A-B6F4EF7C1BA6}" sibTransId="{9EE4C7DD-6FE4-4B78-B13E-D80760BB580B}"/>
    <dgm:cxn modelId="{2C339550-07CB-4DFA-BBE0-6A2B71F6948D}" type="presOf" srcId="{F74C1103-1677-4B0D-A996-33CDD73ADEDF}" destId="{806436B8-DAAD-407B-A326-41CB48346E76}" srcOrd="1" destOrd="0" presId="urn:microsoft.com/office/officeart/2005/8/layout/list1"/>
    <dgm:cxn modelId="{EEA7D475-01D0-4B12-8B02-69C826805C0D}" type="presOf" srcId="{B6470183-4775-44C3-9C87-74F80F8B611C}" destId="{ED92DC5A-ABA0-4DC5-ACA7-04AD4163CB1F}" srcOrd="0" destOrd="0" presId="urn:microsoft.com/office/officeart/2005/8/layout/list1"/>
    <dgm:cxn modelId="{40B3CB76-70C0-4EE3-83B6-745B56F4AAC8}" srcId="{B6470183-4775-44C3-9C87-74F80F8B611C}" destId="{F74C1103-1677-4B0D-A996-33CDD73ADEDF}" srcOrd="1" destOrd="0" parTransId="{B2C91564-D67D-4BA0-936B-5148FCC33215}" sibTransId="{FC745ED2-DC38-4B65-B6BF-C77B9CF2B14F}"/>
    <dgm:cxn modelId="{F3C59595-CE88-43D4-AFED-9015AF7563E7}" type="presOf" srcId="{9AB4E75D-2B03-41A6-BF8E-86F493519BC0}" destId="{592853D1-0FAA-4C02-AC01-F6044C1C10BC}" srcOrd="1" destOrd="0" presId="urn:microsoft.com/office/officeart/2005/8/layout/list1"/>
    <dgm:cxn modelId="{6AF21799-A86A-4EF3-BD51-BACC6ADA0736}" srcId="{B6470183-4775-44C3-9C87-74F80F8B611C}" destId="{AD3CE75E-2610-4F33-8825-BC38B40817B8}" srcOrd="2" destOrd="0" parTransId="{80402B3D-BC23-4275-8ED1-42C2C589A36D}" sibTransId="{1A4C5722-DF10-41BB-A4CF-4D8C7939F2B7}"/>
    <dgm:cxn modelId="{51DFCCA6-6E5F-47D4-8B14-83BE1B4F48EC}" type="presOf" srcId="{F74C1103-1677-4B0D-A996-33CDD73ADEDF}" destId="{BE3E9A18-CC54-4440-B3C6-8C22E5ED5B0F}" srcOrd="0" destOrd="0" presId="urn:microsoft.com/office/officeart/2005/8/layout/list1"/>
    <dgm:cxn modelId="{6F5683B3-F7FD-41A9-9C3B-E7AEA6429392}" type="presOf" srcId="{981BC8EF-56A2-41E5-96B1-BFEF559914E6}" destId="{254D5B97-20E5-4191-BAD6-107A777E9AFE}" srcOrd="1" destOrd="0" presId="urn:microsoft.com/office/officeart/2005/8/layout/list1"/>
    <dgm:cxn modelId="{C1811FC8-CE08-4055-AD64-B155AEFD81E7}" type="presOf" srcId="{AD3CE75E-2610-4F33-8825-BC38B40817B8}" destId="{B8DBED88-E7AC-4ADB-9EFF-8EE3F4E81681}" srcOrd="1" destOrd="0" presId="urn:microsoft.com/office/officeart/2005/8/layout/list1"/>
    <dgm:cxn modelId="{53F70CD5-8091-4164-A5F0-B43F8E1695C1}" srcId="{B6470183-4775-44C3-9C87-74F80F8B611C}" destId="{9AB4E75D-2B03-41A6-BF8E-86F493519BC0}" srcOrd="0" destOrd="0" parTransId="{BA2D065A-EC23-44BD-88A1-035A2FD98030}" sibTransId="{07AB1ADE-66D9-4F4D-8B09-11FFC8181D85}"/>
    <dgm:cxn modelId="{E6A8D84D-A2DA-4566-A1A5-05D65C3AB281}" type="presParOf" srcId="{ED92DC5A-ABA0-4DC5-ACA7-04AD4163CB1F}" destId="{51A39B84-A95D-4E65-A296-A9663E25BD5D}" srcOrd="0" destOrd="0" presId="urn:microsoft.com/office/officeart/2005/8/layout/list1"/>
    <dgm:cxn modelId="{ACD00012-3A8E-4EB4-9476-EFDE1EE9CA09}" type="presParOf" srcId="{51A39B84-A95D-4E65-A296-A9663E25BD5D}" destId="{248BB723-A8D2-40A8-86A6-2236785F7807}" srcOrd="0" destOrd="0" presId="urn:microsoft.com/office/officeart/2005/8/layout/list1"/>
    <dgm:cxn modelId="{C73D59E1-B6CE-4E4F-BB15-B5E19600651A}" type="presParOf" srcId="{51A39B84-A95D-4E65-A296-A9663E25BD5D}" destId="{592853D1-0FAA-4C02-AC01-F6044C1C10BC}" srcOrd="1" destOrd="0" presId="urn:microsoft.com/office/officeart/2005/8/layout/list1"/>
    <dgm:cxn modelId="{0D4B09B3-478C-4F01-9F73-BD158B203C12}" type="presParOf" srcId="{ED92DC5A-ABA0-4DC5-ACA7-04AD4163CB1F}" destId="{0A910CDE-C09A-44A8-9295-B5BA77CD8ACD}" srcOrd="1" destOrd="0" presId="urn:microsoft.com/office/officeart/2005/8/layout/list1"/>
    <dgm:cxn modelId="{84C4D6E1-4846-4F1F-B50E-93FB40F090FB}" type="presParOf" srcId="{ED92DC5A-ABA0-4DC5-ACA7-04AD4163CB1F}" destId="{0E99E6FA-D855-46E5-B674-E48CBF17F832}" srcOrd="2" destOrd="0" presId="urn:microsoft.com/office/officeart/2005/8/layout/list1"/>
    <dgm:cxn modelId="{72B623C8-181A-4A21-B2E6-AF730E072836}" type="presParOf" srcId="{ED92DC5A-ABA0-4DC5-ACA7-04AD4163CB1F}" destId="{2BE41D99-D375-4EFD-92AD-12BD661D4E07}" srcOrd="3" destOrd="0" presId="urn:microsoft.com/office/officeart/2005/8/layout/list1"/>
    <dgm:cxn modelId="{545A5A2A-B977-4D55-85D6-5864BCDE5579}" type="presParOf" srcId="{ED92DC5A-ABA0-4DC5-ACA7-04AD4163CB1F}" destId="{B0A6A6CE-E242-4F6F-902A-E5371CF80D62}" srcOrd="4" destOrd="0" presId="urn:microsoft.com/office/officeart/2005/8/layout/list1"/>
    <dgm:cxn modelId="{F94AD73E-3823-4FDF-BBEA-1393DA16D5FC}" type="presParOf" srcId="{B0A6A6CE-E242-4F6F-902A-E5371CF80D62}" destId="{BE3E9A18-CC54-4440-B3C6-8C22E5ED5B0F}" srcOrd="0" destOrd="0" presId="urn:microsoft.com/office/officeart/2005/8/layout/list1"/>
    <dgm:cxn modelId="{B4E8CC64-256B-4F11-A2B0-71A90E3D73B7}" type="presParOf" srcId="{B0A6A6CE-E242-4F6F-902A-E5371CF80D62}" destId="{806436B8-DAAD-407B-A326-41CB48346E76}" srcOrd="1" destOrd="0" presId="urn:microsoft.com/office/officeart/2005/8/layout/list1"/>
    <dgm:cxn modelId="{0ADB4EA9-D8CA-44CD-9BA2-837DF0C18671}" type="presParOf" srcId="{ED92DC5A-ABA0-4DC5-ACA7-04AD4163CB1F}" destId="{6A731215-5667-48CE-89DE-6EB163BFED48}" srcOrd="5" destOrd="0" presId="urn:microsoft.com/office/officeart/2005/8/layout/list1"/>
    <dgm:cxn modelId="{965DDCEE-7693-4B2C-B969-95B45F49349A}" type="presParOf" srcId="{ED92DC5A-ABA0-4DC5-ACA7-04AD4163CB1F}" destId="{A3C34040-CD10-4ED8-A734-34223A7C188A}" srcOrd="6" destOrd="0" presId="urn:microsoft.com/office/officeart/2005/8/layout/list1"/>
    <dgm:cxn modelId="{6C8DE326-E3D2-4EB5-9D7D-8CC96DB2D1F3}" type="presParOf" srcId="{ED92DC5A-ABA0-4DC5-ACA7-04AD4163CB1F}" destId="{EF7BD375-94C2-4C1A-8A4A-686EFB885048}" srcOrd="7" destOrd="0" presId="urn:microsoft.com/office/officeart/2005/8/layout/list1"/>
    <dgm:cxn modelId="{2749EBA0-BA4D-4EF1-86CD-5EE3F5EA05F8}" type="presParOf" srcId="{ED92DC5A-ABA0-4DC5-ACA7-04AD4163CB1F}" destId="{C0682DAB-EF77-4027-90C6-9F044175B931}" srcOrd="8" destOrd="0" presId="urn:microsoft.com/office/officeart/2005/8/layout/list1"/>
    <dgm:cxn modelId="{6BBA97A8-513A-42B1-B689-289804ECDBAB}" type="presParOf" srcId="{C0682DAB-EF77-4027-90C6-9F044175B931}" destId="{A43CF97C-2364-4BCE-B74B-2A73E98D3171}" srcOrd="0" destOrd="0" presId="urn:microsoft.com/office/officeart/2005/8/layout/list1"/>
    <dgm:cxn modelId="{B703E12A-DB5D-4FBC-A73B-4D6CA150FE5E}" type="presParOf" srcId="{C0682DAB-EF77-4027-90C6-9F044175B931}" destId="{B8DBED88-E7AC-4ADB-9EFF-8EE3F4E81681}" srcOrd="1" destOrd="0" presId="urn:microsoft.com/office/officeart/2005/8/layout/list1"/>
    <dgm:cxn modelId="{FD83BDCC-C203-42EE-84EE-EAB51DF9B319}" type="presParOf" srcId="{ED92DC5A-ABA0-4DC5-ACA7-04AD4163CB1F}" destId="{5693E6A0-782F-49AB-A94D-7AE75A1E11F5}" srcOrd="9" destOrd="0" presId="urn:microsoft.com/office/officeart/2005/8/layout/list1"/>
    <dgm:cxn modelId="{772B80A2-EE8B-4D29-9E9E-D4BA4C64EE10}" type="presParOf" srcId="{ED92DC5A-ABA0-4DC5-ACA7-04AD4163CB1F}" destId="{976B97D8-B022-4B85-9567-490E472A73E1}" srcOrd="10" destOrd="0" presId="urn:microsoft.com/office/officeart/2005/8/layout/list1"/>
    <dgm:cxn modelId="{D494D36A-778D-4CAE-B2A7-BACE8D41E9A1}" type="presParOf" srcId="{ED92DC5A-ABA0-4DC5-ACA7-04AD4163CB1F}" destId="{80FA7130-35E2-4617-AEA6-9929728BB0DE}" srcOrd="11" destOrd="0" presId="urn:microsoft.com/office/officeart/2005/8/layout/list1"/>
    <dgm:cxn modelId="{E5B5B379-850B-4F59-B44C-A86F97006604}" type="presParOf" srcId="{ED92DC5A-ABA0-4DC5-ACA7-04AD4163CB1F}" destId="{FAA13A0B-3801-48A5-8168-0BC6E771FCE2}" srcOrd="12" destOrd="0" presId="urn:microsoft.com/office/officeart/2005/8/layout/list1"/>
    <dgm:cxn modelId="{AF4CDA07-6851-468B-9DCF-A0957A5D2761}" type="presParOf" srcId="{FAA13A0B-3801-48A5-8168-0BC6E771FCE2}" destId="{90725022-4B5B-4BA4-ACED-FC3CABD164FC}" srcOrd="0" destOrd="0" presId="urn:microsoft.com/office/officeart/2005/8/layout/list1"/>
    <dgm:cxn modelId="{5AC0430A-5FAB-43F4-85F5-32336B476482}" type="presParOf" srcId="{FAA13A0B-3801-48A5-8168-0BC6E771FCE2}" destId="{2C5DB0D3-93E3-4B8A-B333-6870B8E909F5}" srcOrd="1" destOrd="0" presId="urn:microsoft.com/office/officeart/2005/8/layout/list1"/>
    <dgm:cxn modelId="{D987E488-D6E7-4E9F-AB26-417726F66079}" type="presParOf" srcId="{ED92DC5A-ABA0-4DC5-ACA7-04AD4163CB1F}" destId="{5EC458D0-B817-41C7-8B36-182976300B95}" srcOrd="13" destOrd="0" presId="urn:microsoft.com/office/officeart/2005/8/layout/list1"/>
    <dgm:cxn modelId="{507803A9-AFEF-435D-8CC2-2043C66B1FEC}" type="presParOf" srcId="{ED92DC5A-ABA0-4DC5-ACA7-04AD4163CB1F}" destId="{95891BBD-995A-49B3-8256-7BB5F8DBFEDC}" srcOrd="14" destOrd="0" presId="urn:microsoft.com/office/officeart/2005/8/layout/list1"/>
    <dgm:cxn modelId="{45AA6D9A-CB07-4F53-A230-A31FB151D9E1}" type="presParOf" srcId="{ED92DC5A-ABA0-4DC5-ACA7-04AD4163CB1F}" destId="{2F2F4AB2-917D-4BF5-8A9E-519475300EDA}" srcOrd="15" destOrd="0" presId="urn:microsoft.com/office/officeart/2005/8/layout/list1"/>
    <dgm:cxn modelId="{C5D470AF-722D-4C3D-84EA-D8BD2D555017}" type="presParOf" srcId="{ED92DC5A-ABA0-4DC5-ACA7-04AD4163CB1F}" destId="{63E0161C-BE7F-4A5F-9342-111A1CCD48CA}" srcOrd="16" destOrd="0" presId="urn:microsoft.com/office/officeart/2005/8/layout/list1"/>
    <dgm:cxn modelId="{8E36806F-613A-4E09-996E-0FD6AD9965FF}" type="presParOf" srcId="{63E0161C-BE7F-4A5F-9342-111A1CCD48CA}" destId="{11B70EAB-405E-4383-8472-6822CAD8B6FF}" srcOrd="0" destOrd="0" presId="urn:microsoft.com/office/officeart/2005/8/layout/list1"/>
    <dgm:cxn modelId="{162E82E3-16DB-403B-A790-D767D0DC27A3}" type="presParOf" srcId="{63E0161C-BE7F-4A5F-9342-111A1CCD48CA}" destId="{254D5B97-20E5-4191-BAD6-107A777E9AFE}" srcOrd="1" destOrd="0" presId="urn:microsoft.com/office/officeart/2005/8/layout/list1"/>
    <dgm:cxn modelId="{7D3FA7FA-F556-48CB-A798-566B38BEF7E4}" type="presParOf" srcId="{ED92DC5A-ABA0-4DC5-ACA7-04AD4163CB1F}" destId="{01FDCB22-4E80-41B9-AC95-3CB13588EF03}" srcOrd="17" destOrd="0" presId="urn:microsoft.com/office/officeart/2005/8/layout/list1"/>
    <dgm:cxn modelId="{C63EE3B8-3A7C-4178-9E64-B6D5C57CD0D0}" type="presParOf" srcId="{ED92DC5A-ABA0-4DC5-ACA7-04AD4163CB1F}" destId="{442A9787-627C-448E-A6AE-351DA210C6C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088A39-B3DF-47BE-B5AA-F970388FDE5B}" type="doc">
      <dgm:prSet loTypeId="urn:microsoft.com/office/officeart/2005/8/layout/vList2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4E905D39-004E-44A8-9607-72E6043CEE70}">
      <dgm:prSet/>
      <dgm:spPr/>
      <dgm:t>
        <a:bodyPr/>
        <a:lstStyle/>
        <a:p>
          <a:pPr>
            <a:lnSpc>
              <a:spcPct val="150000"/>
            </a:lnSpc>
          </a:pPr>
          <a:r>
            <a:rPr lang="en-GB" b="1" dirty="0">
              <a:solidFill>
                <a:schemeClr val="tx1"/>
              </a:solidFill>
            </a:rPr>
            <a:t>Revenue Growth has outpaced the expenses in the given time frame.</a:t>
          </a:r>
          <a:endParaRPr lang="en-US" b="1" dirty="0">
            <a:solidFill>
              <a:schemeClr val="tx1"/>
            </a:solidFill>
          </a:endParaRPr>
        </a:p>
      </dgm:t>
    </dgm:pt>
    <dgm:pt modelId="{3B69CB84-9ACF-41B5-9F4B-900BDACFF0BE}" type="parTrans" cxnId="{D6E3A3D1-B7A7-427A-9C92-847EF0D1106C}">
      <dgm:prSet/>
      <dgm:spPr/>
      <dgm:t>
        <a:bodyPr/>
        <a:lstStyle/>
        <a:p>
          <a:endParaRPr lang="en-US"/>
        </a:p>
      </dgm:t>
    </dgm:pt>
    <dgm:pt modelId="{F4593EE3-D527-450F-9022-ABDB1846216F}" type="sibTrans" cxnId="{D6E3A3D1-B7A7-427A-9C92-847EF0D1106C}">
      <dgm:prSet/>
      <dgm:spPr/>
      <dgm:t>
        <a:bodyPr/>
        <a:lstStyle/>
        <a:p>
          <a:endParaRPr lang="en-US"/>
        </a:p>
      </dgm:t>
    </dgm:pt>
    <dgm:pt modelId="{5EABB46D-0515-48FE-A10F-5709610DEA22}">
      <dgm:prSet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There seems to be huge dip in revenue in the year 2020. which suggests the post pandemic effect in business.</a:t>
          </a:r>
          <a:endParaRPr lang="en-US" b="1" dirty="0">
            <a:solidFill>
              <a:schemeClr val="tx1"/>
            </a:solidFill>
          </a:endParaRPr>
        </a:p>
      </dgm:t>
    </dgm:pt>
    <dgm:pt modelId="{772E8D49-E039-44DC-B61B-27FCC5727540}" type="parTrans" cxnId="{88BB940A-AD3D-4B23-9B31-46F288FC75D9}">
      <dgm:prSet/>
      <dgm:spPr/>
      <dgm:t>
        <a:bodyPr/>
        <a:lstStyle/>
        <a:p>
          <a:endParaRPr lang="en-US"/>
        </a:p>
      </dgm:t>
    </dgm:pt>
    <dgm:pt modelId="{24B927FF-6C19-4FA8-A30A-375AD36B48FB}" type="sibTrans" cxnId="{88BB940A-AD3D-4B23-9B31-46F288FC75D9}">
      <dgm:prSet/>
      <dgm:spPr/>
      <dgm:t>
        <a:bodyPr/>
        <a:lstStyle/>
        <a:p>
          <a:endParaRPr lang="en-US"/>
        </a:p>
      </dgm:t>
    </dgm:pt>
    <dgm:pt modelId="{34AA22A6-886C-43EE-92ED-8E47B048817A}">
      <dgm:prSet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Cyclical trend</a:t>
          </a:r>
          <a:endParaRPr lang="en-US" b="1" dirty="0">
            <a:solidFill>
              <a:schemeClr val="tx1"/>
            </a:solidFill>
          </a:endParaRPr>
        </a:p>
      </dgm:t>
    </dgm:pt>
    <dgm:pt modelId="{684DEB70-5922-420A-B45F-6E00030F2210}" type="parTrans" cxnId="{53C6F254-A680-4E70-9BEA-FC523E213C08}">
      <dgm:prSet/>
      <dgm:spPr/>
      <dgm:t>
        <a:bodyPr/>
        <a:lstStyle/>
        <a:p>
          <a:endParaRPr lang="en-US"/>
        </a:p>
      </dgm:t>
    </dgm:pt>
    <dgm:pt modelId="{C421BB80-E92C-452B-9962-EEB2051839FB}" type="sibTrans" cxnId="{53C6F254-A680-4E70-9BEA-FC523E213C08}">
      <dgm:prSet/>
      <dgm:spPr/>
      <dgm:t>
        <a:bodyPr/>
        <a:lstStyle/>
        <a:p>
          <a:endParaRPr lang="en-US"/>
        </a:p>
      </dgm:t>
    </dgm:pt>
    <dgm:pt modelId="{DE7EB5C0-5E8A-42CF-B4AF-4C97395F8960}" type="pres">
      <dgm:prSet presAssocID="{55088A39-B3DF-47BE-B5AA-F970388FDE5B}" presName="linear" presStyleCnt="0">
        <dgm:presLayoutVars>
          <dgm:animLvl val="lvl"/>
          <dgm:resizeHandles val="exact"/>
        </dgm:presLayoutVars>
      </dgm:prSet>
      <dgm:spPr/>
    </dgm:pt>
    <dgm:pt modelId="{E7A56C8C-985C-40D5-8E13-14962AA91FBA}" type="pres">
      <dgm:prSet presAssocID="{4E905D39-004E-44A8-9607-72E6043CEE7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9FD8C5-EE61-4427-B6B6-CA8FC6F222F9}" type="pres">
      <dgm:prSet presAssocID="{F4593EE3-D527-450F-9022-ABDB1846216F}" presName="spacer" presStyleCnt="0"/>
      <dgm:spPr/>
    </dgm:pt>
    <dgm:pt modelId="{E02DF359-D8C8-42E4-B24E-8C21031812B3}" type="pres">
      <dgm:prSet presAssocID="{5EABB46D-0515-48FE-A10F-5709610DEA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EE9C86C-BABA-4783-803E-DE41BBD15D1C}" type="pres">
      <dgm:prSet presAssocID="{24B927FF-6C19-4FA8-A30A-375AD36B48FB}" presName="spacer" presStyleCnt="0"/>
      <dgm:spPr/>
    </dgm:pt>
    <dgm:pt modelId="{4EC00A5C-A762-4DF4-AFE7-F1D3D513D079}" type="pres">
      <dgm:prSet presAssocID="{34AA22A6-886C-43EE-92ED-8E47B048817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8BB940A-AD3D-4B23-9B31-46F288FC75D9}" srcId="{55088A39-B3DF-47BE-B5AA-F970388FDE5B}" destId="{5EABB46D-0515-48FE-A10F-5709610DEA22}" srcOrd="1" destOrd="0" parTransId="{772E8D49-E039-44DC-B61B-27FCC5727540}" sibTransId="{24B927FF-6C19-4FA8-A30A-375AD36B48FB}"/>
    <dgm:cxn modelId="{53C6F254-A680-4E70-9BEA-FC523E213C08}" srcId="{55088A39-B3DF-47BE-B5AA-F970388FDE5B}" destId="{34AA22A6-886C-43EE-92ED-8E47B048817A}" srcOrd="2" destOrd="0" parTransId="{684DEB70-5922-420A-B45F-6E00030F2210}" sibTransId="{C421BB80-E92C-452B-9962-EEB2051839FB}"/>
    <dgm:cxn modelId="{93185E5A-F0F8-4D37-B342-AAD409D406D3}" type="presOf" srcId="{4E905D39-004E-44A8-9607-72E6043CEE70}" destId="{E7A56C8C-985C-40D5-8E13-14962AA91FBA}" srcOrd="0" destOrd="0" presId="urn:microsoft.com/office/officeart/2005/8/layout/vList2"/>
    <dgm:cxn modelId="{0B46B4CE-8201-430B-95FF-96EE613D8B90}" type="presOf" srcId="{55088A39-B3DF-47BE-B5AA-F970388FDE5B}" destId="{DE7EB5C0-5E8A-42CF-B4AF-4C97395F8960}" srcOrd="0" destOrd="0" presId="urn:microsoft.com/office/officeart/2005/8/layout/vList2"/>
    <dgm:cxn modelId="{D6E3A3D1-B7A7-427A-9C92-847EF0D1106C}" srcId="{55088A39-B3DF-47BE-B5AA-F970388FDE5B}" destId="{4E905D39-004E-44A8-9607-72E6043CEE70}" srcOrd="0" destOrd="0" parTransId="{3B69CB84-9ACF-41B5-9F4B-900BDACFF0BE}" sibTransId="{F4593EE3-D527-450F-9022-ABDB1846216F}"/>
    <dgm:cxn modelId="{FDA3D2E6-B95B-41E3-A35C-4880F83B8FD9}" type="presOf" srcId="{5EABB46D-0515-48FE-A10F-5709610DEA22}" destId="{E02DF359-D8C8-42E4-B24E-8C21031812B3}" srcOrd="0" destOrd="0" presId="urn:microsoft.com/office/officeart/2005/8/layout/vList2"/>
    <dgm:cxn modelId="{5693D5EB-BB1C-4084-A3AF-D825663C7D9B}" type="presOf" srcId="{34AA22A6-886C-43EE-92ED-8E47B048817A}" destId="{4EC00A5C-A762-4DF4-AFE7-F1D3D513D079}" srcOrd="0" destOrd="0" presId="urn:microsoft.com/office/officeart/2005/8/layout/vList2"/>
    <dgm:cxn modelId="{8E786B67-B44F-47F1-99A9-FB1788F1595B}" type="presParOf" srcId="{DE7EB5C0-5E8A-42CF-B4AF-4C97395F8960}" destId="{E7A56C8C-985C-40D5-8E13-14962AA91FBA}" srcOrd="0" destOrd="0" presId="urn:microsoft.com/office/officeart/2005/8/layout/vList2"/>
    <dgm:cxn modelId="{E0E39EF5-7D84-4DD0-9E3B-35BAE76BDAA2}" type="presParOf" srcId="{DE7EB5C0-5E8A-42CF-B4AF-4C97395F8960}" destId="{619FD8C5-EE61-4427-B6B6-CA8FC6F222F9}" srcOrd="1" destOrd="0" presId="urn:microsoft.com/office/officeart/2005/8/layout/vList2"/>
    <dgm:cxn modelId="{AB9683D7-4E52-436F-87AC-C9BD006A82D0}" type="presParOf" srcId="{DE7EB5C0-5E8A-42CF-B4AF-4C97395F8960}" destId="{E02DF359-D8C8-42E4-B24E-8C21031812B3}" srcOrd="2" destOrd="0" presId="urn:microsoft.com/office/officeart/2005/8/layout/vList2"/>
    <dgm:cxn modelId="{EE4B019E-3BB0-486D-A9A0-6E6F58D9F9EA}" type="presParOf" srcId="{DE7EB5C0-5E8A-42CF-B4AF-4C97395F8960}" destId="{0EE9C86C-BABA-4783-803E-DE41BBD15D1C}" srcOrd="3" destOrd="0" presId="urn:microsoft.com/office/officeart/2005/8/layout/vList2"/>
    <dgm:cxn modelId="{309F3518-EB1C-43CD-B33B-D9CC29DCE7F6}" type="presParOf" srcId="{DE7EB5C0-5E8A-42CF-B4AF-4C97395F8960}" destId="{4EC00A5C-A762-4DF4-AFE7-F1D3D513D07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14D8E7-0B15-4EFB-A817-A3A2350E4711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ACFD3B8-6634-47B4-96A6-D5A1B25AE4B8}">
      <dgm:prSet custT="1"/>
      <dgm:spPr/>
      <dgm:t>
        <a:bodyPr/>
        <a:lstStyle/>
        <a:p>
          <a:r>
            <a:rPr lang="en-GB" sz="1400" b="1" dirty="0">
              <a:solidFill>
                <a:schemeClr val="tx1"/>
              </a:solidFill>
            </a:rPr>
            <a:t>Gross Profit bounced back after the post pandemic demonstrating NIKE’s strong pricing and cost control</a:t>
          </a:r>
          <a:r>
            <a:rPr lang="en-GB" sz="1800" b="1" dirty="0">
              <a:solidFill>
                <a:schemeClr val="tx1"/>
              </a:solidFill>
            </a:rPr>
            <a:t>.</a:t>
          </a:r>
          <a:endParaRPr lang="en-US" sz="1800" b="1" dirty="0">
            <a:solidFill>
              <a:schemeClr val="tx1"/>
            </a:solidFill>
          </a:endParaRPr>
        </a:p>
      </dgm:t>
    </dgm:pt>
    <dgm:pt modelId="{CE2CACBF-A1FD-4535-B02E-8DE4D1359F6B}" type="parTrans" cxnId="{B6C42A60-BC51-49A3-B9F3-985FCA9733F1}">
      <dgm:prSet/>
      <dgm:spPr/>
      <dgm:t>
        <a:bodyPr/>
        <a:lstStyle/>
        <a:p>
          <a:endParaRPr lang="en-US"/>
        </a:p>
      </dgm:t>
    </dgm:pt>
    <dgm:pt modelId="{D5907DC4-CED6-4990-9672-196DFDF82DF3}" type="sibTrans" cxnId="{B6C42A60-BC51-49A3-B9F3-985FCA9733F1}">
      <dgm:prSet/>
      <dgm:spPr/>
      <dgm:t>
        <a:bodyPr/>
        <a:lstStyle/>
        <a:p>
          <a:endParaRPr lang="en-US"/>
        </a:p>
      </dgm:t>
    </dgm:pt>
    <dgm:pt modelId="{C3D8018C-D1D3-49DC-8249-C1A4921F9C51}" type="pres">
      <dgm:prSet presAssocID="{6814D8E7-0B15-4EFB-A817-A3A2350E4711}" presName="linear" presStyleCnt="0">
        <dgm:presLayoutVars>
          <dgm:animLvl val="lvl"/>
          <dgm:resizeHandles val="exact"/>
        </dgm:presLayoutVars>
      </dgm:prSet>
      <dgm:spPr/>
    </dgm:pt>
    <dgm:pt modelId="{0A32F6DE-8214-4881-ADD2-FA5E0FB026C1}" type="pres">
      <dgm:prSet presAssocID="{8ACFD3B8-6634-47B4-96A6-D5A1B25AE4B8}" presName="parentText" presStyleLbl="node1" presStyleIdx="0" presStyleCnt="1" custScaleY="148400">
        <dgm:presLayoutVars>
          <dgm:chMax val="0"/>
          <dgm:bulletEnabled val="1"/>
        </dgm:presLayoutVars>
      </dgm:prSet>
      <dgm:spPr/>
    </dgm:pt>
  </dgm:ptLst>
  <dgm:cxnLst>
    <dgm:cxn modelId="{B6C42A60-BC51-49A3-B9F3-985FCA9733F1}" srcId="{6814D8E7-0B15-4EFB-A817-A3A2350E4711}" destId="{8ACFD3B8-6634-47B4-96A6-D5A1B25AE4B8}" srcOrd="0" destOrd="0" parTransId="{CE2CACBF-A1FD-4535-B02E-8DE4D1359F6B}" sibTransId="{D5907DC4-CED6-4990-9672-196DFDF82DF3}"/>
    <dgm:cxn modelId="{686B52BB-5387-4EC6-A290-545C0D8AE30D}" type="presOf" srcId="{6814D8E7-0B15-4EFB-A817-A3A2350E4711}" destId="{C3D8018C-D1D3-49DC-8249-C1A4921F9C51}" srcOrd="0" destOrd="0" presId="urn:microsoft.com/office/officeart/2005/8/layout/vList2"/>
    <dgm:cxn modelId="{B8580AF8-5689-42F3-9326-418F2707DDAA}" type="presOf" srcId="{8ACFD3B8-6634-47B4-96A6-D5A1B25AE4B8}" destId="{0A32F6DE-8214-4881-ADD2-FA5E0FB026C1}" srcOrd="0" destOrd="0" presId="urn:microsoft.com/office/officeart/2005/8/layout/vList2"/>
    <dgm:cxn modelId="{F43B8D78-6B08-4AD4-9F7B-FED82B9EC393}" type="presParOf" srcId="{C3D8018C-D1D3-49DC-8249-C1A4921F9C51}" destId="{0A32F6DE-8214-4881-ADD2-FA5E0FB026C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949D8C-DDBC-444E-AA52-CD5DDB24C6EF}" type="doc">
      <dgm:prSet loTypeId="urn:microsoft.com/office/officeart/2005/8/layout/vList2" loCatId="list" qsTypeId="urn:microsoft.com/office/officeart/2005/8/quickstyle/simple1" qsCatId="simple" csTypeId="urn:microsoft.com/office/officeart/2005/8/colors/accent6_5" csCatId="accent6"/>
      <dgm:spPr/>
      <dgm:t>
        <a:bodyPr/>
        <a:lstStyle/>
        <a:p>
          <a:endParaRPr lang="en-US"/>
        </a:p>
      </dgm:t>
    </dgm:pt>
    <dgm:pt modelId="{A5901DA9-9096-4A2E-BE9E-2E60FD6C1108}">
      <dgm:prSet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Sudden Dip in 2020 due to COVID</a:t>
          </a:r>
          <a:r>
            <a:rPr lang="en-GB" dirty="0">
              <a:solidFill>
                <a:schemeClr val="tx1"/>
              </a:solidFill>
            </a:rPr>
            <a:t>.</a:t>
          </a:r>
          <a:endParaRPr lang="en-US" dirty="0">
            <a:solidFill>
              <a:schemeClr val="tx1"/>
            </a:solidFill>
          </a:endParaRPr>
        </a:p>
      </dgm:t>
    </dgm:pt>
    <dgm:pt modelId="{01ED46EC-81DF-4AD8-B02F-1C1E7B5E7725}" type="parTrans" cxnId="{997503CC-B795-4738-98CA-BADB3A0ABAC9}">
      <dgm:prSet/>
      <dgm:spPr/>
      <dgm:t>
        <a:bodyPr/>
        <a:lstStyle/>
        <a:p>
          <a:endParaRPr lang="en-US"/>
        </a:p>
      </dgm:t>
    </dgm:pt>
    <dgm:pt modelId="{7B418239-7E8D-4572-8D4D-99E54F20FBA7}" type="sibTrans" cxnId="{997503CC-B795-4738-98CA-BADB3A0ABAC9}">
      <dgm:prSet/>
      <dgm:spPr/>
      <dgm:t>
        <a:bodyPr/>
        <a:lstStyle/>
        <a:p>
          <a:endParaRPr lang="en-US"/>
        </a:p>
      </dgm:t>
    </dgm:pt>
    <dgm:pt modelId="{36D50E34-257B-4626-8C4B-BF2ECDCAA3D3}">
      <dgm:prSet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The net profit margin trend exceeds the industry expected net profit margin growth rate (around 7% to 9%).</a:t>
          </a:r>
          <a:endParaRPr lang="en-US" b="1" dirty="0">
            <a:solidFill>
              <a:schemeClr val="tx1"/>
            </a:solidFill>
          </a:endParaRPr>
        </a:p>
      </dgm:t>
    </dgm:pt>
    <dgm:pt modelId="{D6F97762-B527-4DA2-8939-59870C57D92B}" type="parTrans" cxnId="{44D18FCD-4263-41CD-9887-8CAB3DD9F8D1}">
      <dgm:prSet/>
      <dgm:spPr/>
      <dgm:t>
        <a:bodyPr/>
        <a:lstStyle/>
        <a:p>
          <a:endParaRPr lang="en-US"/>
        </a:p>
      </dgm:t>
    </dgm:pt>
    <dgm:pt modelId="{C1B05900-141E-4819-A031-6F37FD14DD7F}" type="sibTrans" cxnId="{44D18FCD-4263-41CD-9887-8CAB3DD9F8D1}">
      <dgm:prSet/>
      <dgm:spPr/>
      <dgm:t>
        <a:bodyPr/>
        <a:lstStyle/>
        <a:p>
          <a:endParaRPr lang="en-US"/>
        </a:p>
      </dgm:t>
    </dgm:pt>
    <dgm:pt modelId="{EDD2DE21-4A5E-4072-B12F-918DCD16B22E}">
      <dgm:prSet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Recovery and stabilization Phase after the pandemic.</a:t>
          </a:r>
          <a:endParaRPr lang="en-US" b="1" dirty="0">
            <a:solidFill>
              <a:schemeClr val="tx1"/>
            </a:solidFill>
          </a:endParaRPr>
        </a:p>
      </dgm:t>
    </dgm:pt>
    <dgm:pt modelId="{604FA109-5DC6-4302-A3EF-8F3850440D44}" type="parTrans" cxnId="{A9A7814B-1102-47D0-8AEE-2BEFB98AD44E}">
      <dgm:prSet/>
      <dgm:spPr/>
      <dgm:t>
        <a:bodyPr/>
        <a:lstStyle/>
        <a:p>
          <a:endParaRPr lang="en-US"/>
        </a:p>
      </dgm:t>
    </dgm:pt>
    <dgm:pt modelId="{8E11FF16-30FD-41D5-9948-0757C177EFD9}" type="sibTrans" cxnId="{A9A7814B-1102-47D0-8AEE-2BEFB98AD44E}">
      <dgm:prSet/>
      <dgm:spPr/>
      <dgm:t>
        <a:bodyPr/>
        <a:lstStyle/>
        <a:p>
          <a:endParaRPr lang="en-US"/>
        </a:p>
      </dgm:t>
    </dgm:pt>
    <dgm:pt modelId="{35D09ACC-D4D1-4F75-B285-8DBF3BE57AE9}" type="pres">
      <dgm:prSet presAssocID="{EE949D8C-DDBC-444E-AA52-CD5DDB24C6EF}" presName="linear" presStyleCnt="0">
        <dgm:presLayoutVars>
          <dgm:animLvl val="lvl"/>
          <dgm:resizeHandles val="exact"/>
        </dgm:presLayoutVars>
      </dgm:prSet>
      <dgm:spPr/>
    </dgm:pt>
    <dgm:pt modelId="{C8A2C4CF-B4D3-433A-BE6E-E4F1EC91BFF8}" type="pres">
      <dgm:prSet presAssocID="{A5901DA9-9096-4A2E-BE9E-2E60FD6C11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A08DB2-A683-484C-978C-F94A193BE025}" type="pres">
      <dgm:prSet presAssocID="{7B418239-7E8D-4572-8D4D-99E54F20FBA7}" presName="spacer" presStyleCnt="0"/>
      <dgm:spPr/>
    </dgm:pt>
    <dgm:pt modelId="{013D9224-33ED-430D-AA1B-2E2B0452750A}" type="pres">
      <dgm:prSet presAssocID="{36D50E34-257B-4626-8C4B-BF2ECDCAA3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8F069C-4458-4662-9502-3AAC9B223015}" type="pres">
      <dgm:prSet presAssocID="{C1B05900-141E-4819-A031-6F37FD14DD7F}" presName="spacer" presStyleCnt="0"/>
      <dgm:spPr/>
    </dgm:pt>
    <dgm:pt modelId="{C2561BD5-0E05-4F95-B934-61970A5663E0}" type="pres">
      <dgm:prSet presAssocID="{EDD2DE21-4A5E-4072-B12F-918DCD16B22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E931D0D-5776-417E-AF52-74FB7DBF6FDD}" type="presOf" srcId="{36D50E34-257B-4626-8C4B-BF2ECDCAA3D3}" destId="{013D9224-33ED-430D-AA1B-2E2B0452750A}" srcOrd="0" destOrd="0" presId="urn:microsoft.com/office/officeart/2005/8/layout/vList2"/>
    <dgm:cxn modelId="{A9A7814B-1102-47D0-8AEE-2BEFB98AD44E}" srcId="{EE949D8C-DDBC-444E-AA52-CD5DDB24C6EF}" destId="{EDD2DE21-4A5E-4072-B12F-918DCD16B22E}" srcOrd="2" destOrd="0" parTransId="{604FA109-5DC6-4302-A3EF-8F3850440D44}" sibTransId="{8E11FF16-30FD-41D5-9948-0757C177EFD9}"/>
    <dgm:cxn modelId="{DA77F4B9-5673-4147-9435-2802098E8F49}" type="presOf" srcId="{A5901DA9-9096-4A2E-BE9E-2E60FD6C1108}" destId="{C8A2C4CF-B4D3-433A-BE6E-E4F1EC91BFF8}" srcOrd="0" destOrd="0" presId="urn:microsoft.com/office/officeart/2005/8/layout/vList2"/>
    <dgm:cxn modelId="{997503CC-B795-4738-98CA-BADB3A0ABAC9}" srcId="{EE949D8C-DDBC-444E-AA52-CD5DDB24C6EF}" destId="{A5901DA9-9096-4A2E-BE9E-2E60FD6C1108}" srcOrd="0" destOrd="0" parTransId="{01ED46EC-81DF-4AD8-B02F-1C1E7B5E7725}" sibTransId="{7B418239-7E8D-4572-8D4D-99E54F20FBA7}"/>
    <dgm:cxn modelId="{44D18FCD-4263-41CD-9887-8CAB3DD9F8D1}" srcId="{EE949D8C-DDBC-444E-AA52-CD5DDB24C6EF}" destId="{36D50E34-257B-4626-8C4B-BF2ECDCAA3D3}" srcOrd="1" destOrd="0" parTransId="{D6F97762-B527-4DA2-8939-59870C57D92B}" sibTransId="{C1B05900-141E-4819-A031-6F37FD14DD7F}"/>
    <dgm:cxn modelId="{857628EF-0D6F-4223-B367-23BD1F271CA5}" type="presOf" srcId="{EDD2DE21-4A5E-4072-B12F-918DCD16B22E}" destId="{C2561BD5-0E05-4F95-B934-61970A5663E0}" srcOrd="0" destOrd="0" presId="urn:microsoft.com/office/officeart/2005/8/layout/vList2"/>
    <dgm:cxn modelId="{A6CC23F2-B0E4-4846-91E9-976CFBD982DD}" type="presOf" srcId="{EE949D8C-DDBC-444E-AA52-CD5DDB24C6EF}" destId="{35D09ACC-D4D1-4F75-B285-8DBF3BE57AE9}" srcOrd="0" destOrd="0" presId="urn:microsoft.com/office/officeart/2005/8/layout/vList2"/>
    <dgm:cxn modelId="{3239B2A9-7613-48EB-93D8-52144F189916}" type="presParOf" srcId="{35D09ACC-D4D1-4F75-B285-8DBF3BE57AE9}" destId="{C8A2C4CF-B4D3-433A-BE6E-E4F1EC91BFF8}" srcOrd="0" destOrd="0" presId="urn:microsoft.com/office/officeart/2005/8/layout/vList2"/>
    <dgm:cxn modelId="{0B119256-CE12-4AE0-A8C7-52D11994D6D9}" type="presParOf" srcId="{35D09ACC-D4D1-4F75-B285-8DBF3BE57AE9}" destId="{FBA08DB2-A683-484C-978C-F94A193BE025}" srcOrd="1" destOrd="0" presId="urn:microsoft.com/office/officeart/2005/8/layout/vList2"/>
    <dgm:cxn modelId="{DCCD5C88-DC96-44CD-86DA-08208E1B1CBC}" type="presParOf" srcId="{35D09ACC-D4D1-4F75-B285-8DBF3BE57AE9}" destId="{013D9224-33ED-430D-AA1B-2E2B0452750A}" srcOrd="2" destOrd="0" presId="urn:microsoft.com/office/officeart/2005/8/layout/vList2"/>
    <dgm:cxn modelId="{5AB4B795-2C28-4BB0-AAB8-D44C21ED833C}" type="presParOf" srcId="{35D09ACC-D4D1-4F75-B285-8DBF3BE57AE9}" destId="{768F069C-4458-4662-9502-3AAC9B223015}" srcOrd="3" destOrd="0" presId="urn:microsoft.com/office/officeart/2005/8/layout/vList2"/>
    <dgm:cxn modelId="{8126D57E-3342-4055-A038-336BA727B7FD}" type="presParOf" srcId="{35D09ACC-D4D1-4F75-B285-8DBF3BE57AE9}" destId="{C2561BD5-0E05-4F95-B934-61970A5663E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0FBA25-66B4-4A23-AA97-87F73754C643}" type="doc">
      <dgm:prSet loTypeId="urn:microsoft.com/office/officeart/2005/8/layout/vList2" loCatId="list" qsTypeId="urn:microsoft.com/office/officeart/2005/8/quickstyle/simple1" qsCatId="simple" csTypeId="urn:microsoft.com/office/officeart/2005/8/colors/accent6_5" csCatId="accent6"/>
      <dgm:spPr/>
      <dgm:t>
        <a:bodyPr/>
        <a:lstStyle/>
        <a:p>
          <a:endParaRPr lang="en-US"/>
        </a:p>
      </dgm:t>
    </dgm:pt>
    <dgm:pt modelId="{90316F87-B054-49EE-A2AB-4F43644805A3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400" b="1" dirty="0">
              <a:solidFill>
                <a:schemeClr val="tx1"/>
              </a:solidFill>
            </a:rPr>
            <a:t>Cash and Equivalents were used for monitoring the Liquidity position over time</a:t>
          </a:r>
          <a:r>
            <a:rPr lang="en-GB" sz="1500" b="1" dirty="0">
              <a:solidFill>
                <a:schemeClr val="tx1"/>
              </a:solidFill>
            </a:rPr>
            <a:t>.</a:t>
          </a:r>
          <a:endParaRPr lang="en-US" sz="1500" b="1" dirty="0">
            <a:solidFill>
              <a:schemeClr val="tx1"/>
            </a:solidFill>
          </a:endParaRPr>
        </a:p>
      </dgm:t>
    </dgm:pt>
    <dgm:pt modelId="{A3B42908-CF5C-431B-9D4C-B6F6699597B0}" type="parTrans" cxnId="{688F2693-1C4F-45CC-BF92-DBD992085477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835717B8-C151-4FE9-A9F5-3FCCB4E8D69B}" type="sibTrans" cxnId="{688F2693-1C4F-45CC-BF92-DBD992085477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FBFCEE8A-932B-4D0C-A7E6-B1B9C20D375F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400" b="1" dirty="0">
              <a:solidFill>
                <a:schemeClr val="tx1"/>
              </a:solidFill>
            </a:rPr>
            <a:t>Fluctuations are highly seen.</a:t>
          </a:r>
          <a:endParaRPr lang="en-US" sz="1400" b="1" dirty="0">
            <a:solidFill>
              <a:schemeClr val="tx1"/>
            </a:solidFill>
          </a:endParaRPr>
        </a:p>
      </dgm:t>
    </dgm:pt>
    <dgm:pt modelId="{0BB9AEBD-18CF-4A9B-843A-760348BA50B0}" type="parTrans" cxnId="{8B43C8AA-D7AB-440E-868D-6E53A0431CFB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8386F823-AEF2-4887-BEB7-1813799934B8}" type="sibTrans" cxnId="{8B43C8AA-D7AB-440E-868D-6E53A0431CFB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DC4D7149-AD0F-4018-9422-48C6170AA782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400" b="1" dirty="0">
              <a:solidFill>
                <a:schemeClr val="tx1"/>
              </a:solidFill>
            </a:rPr>
            <a:t>Notable Spike in the year 2020 and 2021 due to the adoption of precautionary measures in the pandemic period.</a:t>
          </a:r>
          <a:endParaRPr lang="en-US" sz="1400" b="1" dirty="0">
            <a:solidFill>
              <a:schemeClr val="tx1"/>
            </a:solidFill>
          </a:endParaRPr>
        </a:p>
      </dgm:t>
    </dgm:pt>
    <dgm:pt modelId="{2B5C0225-9ADA-458E-AAD7-68D54504C716}" type="parTrans" cxnId="{49BE3B82-18F5-42D2-96D8-A9C32BAA4F36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E019891A-14D0-49EF-8CB8-73A1430B4626}" type="sibTrans" cxnId="{49BE3B82-18F5-42D2-96D8-A9C32BAA4F36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3AEDC9DE-A7E0-4285-9B82-A62FE953BB04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GB" sz="1400" b="1" dirty="0">
              <a:solidFill>
                <a:schemeClr val="tx1"/>
              </a:solidFill>
            </a:rPr>
            <a:t>Stable Liquidity post pandemic but slightly declining.</a:t>
          </a:r>
          <a:endParaRPr lang="en-US" sz="1400" b="1" dirty="0">
            <a:solidFill>
              <a:schemeClr val="tx1"/>
            </a:solidFill>
          </a:endParaRPr>
        </a:p>
      </dgm:t>
    </dgm:pt>
    <dgm:pt modelId="{CBC18096-6FFF-42C5-9823-1221D9E52274}" type="parTrans" cxnId="{46B24947-0823-407A-8E84-0F31137537FE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39BCC164-E15B-4160-90A8-22BEBA6D5FB6}" type="sibTrans" cxnId="{46B24947-0823-407A-8E84-0F31137537FE}">
      <dgm:prSet/>
      <dgm:spPr/>
      <dgm:t>
        <a:bodyPr/>
        <a:lstStyle/>
        <a:p>
          <a:pPr>
            <a:lnSpc>
              <a:spcPct val="150000"/>
            </a:lnSpc>
          </a:pPr>
          <a:endParaRPr lang="en-US"/>
        </a:p>
      </dgm:t>
    </dgm:pt>
    <dgm:pt modelId="{57FEB8D3-49D5-43A6-8D3B-3EDB15A01622}" type="pres">
      <dgm:prSet presAssocID="{2A0FBA25-66B4-4A23-AA97-87F73754C643}" presName="linear" presStyleCnt="0">
        <dgm:presLayoutVars>
          <dgm:animLvl val="lvl"/>
          <dgm:resizeHandles val="exact"/>
        </dgm:presLayoutVars>
      </dgm:prSet>
      <dgm:spPr/>
    </dgm:pt>
    <dgm:pt modelId="{8ADA4320-C82E-43DE-85BF-3B7563AFCB3D}" type="pres">
      <dgm:prSet presAssocID="{90316F87-B054-49EE-A2AB-4F43644805A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30C150-E798-48D0-BBDB-A779D874D57A}" type="pres">
      <dgm:prSet presAssocID="{835717B8-C151-4FE9-A9F5-3FCCB4E8D69B}" presName="spacer" presStyleCnt="0"/>
      <dgm:spPr/>
    </dgm:pt>
    <dgm:pt modelId="{303A0B24-2D7E-4719-8666-68CFA48F7643}" type="pres">
      <dgm:prSet presAssocID="{FBFCEE8A-932B-4D0C-A7E6-B1B9C20D375F}" presName="parentText" presStyleLbl="node1" presStyleIdx="1" presStyleCnt="4" custLinFactY="641" custLinFactNeighborY="100000">
        <dgm:presLayoutVars>
          <dgm:chMax val="0"/>
          <dgm:bulletEnabled val="1"/>
        </dgm:presLayoutVars>
      </dgm:prSet>
      <dgm:spPr/>
    </dgm:pt>
    <dgm:pt modelId="{AC8E6F30-06CD-4C12-8972-9FC32E9F6949}" type="pres">
      <dgm:prSet presAssocID="{8386F823-AEF2-4887-BEB7-1813799934B8}" presName="spacer" presStyleCnt="0"/>
      <dgm:spPr/>
    </dgm:pt>
    <dgm:pt modelId="{732ECFDB-84A2-43B9-A245-C062086F84D4}" type="pres">
      <dgm:prSet presAssocID="{DC4D7149-AD0F-4018-9422-48C6170AA7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2881D7-EA7B-4BAD-9324-B5FA8D89ADFA}" type="pres">
      <dgm:prSet presAssocID="{E019891A-14D0-49EF-8CB8-73A1430B4626}" presName="spacer" presStyleCnt="0"/>
      <dgm:spPr/>
    </dgm:pt>
    <dgm:pt modelId="{E5B2DAB7-43FB-4AA1-B639-992EAE1C4BA7}" type="pres">
      <dgm:prSet presAssocID="{3AEDC9DE-A7E0-4285-9B82-A62FE953BB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8999237-660A-40AC-9877-4744B40569FD}" type="presOf" srcId="{3AEDC9DE-A7E0-4285-9B82-A62FE953BB04}" destId="{E5B2DAB7-43FB-4AA1-B639-992EAE1C4BA7}" srcOrd="0" destOrd="0" presId="urn:microsoft.com/office/officeart/2005/8/layout/vList2"/>
    <dgm:cxn modelId="{EE08A844-D03C-403A-B2F4-84721BA4F49D}" type="presOf" srcId="{DC4D7149-AD0F-4018-9422-48C6170AA782}" destId="{732ECFDB-84A2-43B9-A245-C062086F84D4}" srcOrd="0" destOrd="0" presId="urn:microsoft.com/office/officeart/2005/8/layout/vList2"/>
    <dgm:cxn modelId="{46B24947-0823-407A-8E84-0F31137537FE}" srcId="{2A0FBA25-66B4-4A23-AA97-87F73754C643}" destId="{3AEDC9DE-A7E0-4285-9B82-A62FE953BB04}" srcOrd="3" destOrd="0" parTransId="{CBC18096-6FFF-42C5-9823-1221D9E52274}" sibTransId="{39BCC164-E15B-4160-90A8-22BEBA6D5FB6}"/>
    <dgm:cxn modelId="{49BE3B82-18F5-42D2-96D8-A9C32BAA4F36}" srcId="{2A0FBA25-66B4-4A23-AA97-87F73754C643}" destId="{DC4D7149-AD0F-4018-9422-48C6170AA782}" srcOrd="2" destOrd="0" parTransId="{2B5C0225-9ADA-458E-AAD7-68D54504C716}" sibTransId="{E019891A-14D0-49EF-8CB8-73A1430B4626}"/>
    <dgm:cxn modelId="{688F2693-1C4F-45CC-BF92-DBD992085477}" srcId="{2A0FBA25-66B4-4A23-AA97-87F73754C643}" destId="{90316F87-B054-49EE-A2AB-4F43644805A3}" srcOrd="0" destOrd="0" parTransId="{A3B42908-CF5C-431B-9D4C-B6F6699597B0}" sibTransId="{835717B8-C151-4FE9-A9F5-3FCCB4E8D69B}"/>
    <dgm:cxn modelId="{DEEC7B97-89D1-40E7-977A-1A2DDDDBF3C0}" type="presOf" srcId="{2A0FBA25-66B4-4A23-AA97-87F73754C643}" destId="{57FEB8D3-49D5-43A6-8D3B-3EDB15A01622}" srcOrd="0" destOrd="0" presId="urn:microsoft.com/office/officeart/2005/8/layout/vList2"/>
    <dgm:cxn modelId="{42FFB5A7-2311-4D27-BB03-EE7213487D2E}" type="presOf" srcId="{FBFCEE8A-932B-4D0C-A7E6-B1B9C20D375F}" destId="{303A0B24-2D7E-4719-8666-68CFA48F7643}" srcOrd="0" destOrd="0" presId="urn:microsoft.com/office/officeart/2005/8/layout/vList2"/>
    <dgm:cxn modelId="{078510AA-E468-45D0-A456-E0ECAE7DA75F}" type="presOf" srcId="{90316F87-B054-49EE-A2AB-4F43644805A3}" destId="{8ADA4320-C82E-43DE-85BF-3B7563AFCB3D}" srcOrd="0" destOrd="0" presId="urn:microsoft.com/office/officeart/2005/8/layout/vList2"/>
    <dgm:cxn modelId="{8B43C8AA-D7AB-440E-868D-6E53A0431CFB}" srcId="{2A0FBA25-66B4-4A23-AA97-87F73754C643}" destId="{FBFCEE8A-932B-4D0C-A7E6-B1B9C20D375F}" srcOrd="1" destOrd="0" parTransId="{0BB9AEBD-18CF-4A9B-843A-760348BA50B0}" sibTransId="{8386F823-AEF2-4887-BEB7-1813799934B8}"/>
    <dgm:cxn modelId="{F81026AD-40E4-466D-8C8D-9C3D0C00CC70}" type="presParOf" srcId="{57FEB8D3-49D5-43A6-8D3B-3EDB15A01622}" destId="{8ADA4320-C82E-43DE-85BF-3B7563AFCB3D}" srcOrd="0" destOrd="0" presId="urn:microsoft.com/office/officeart/2005/8/layout/vList2"/>
    <dgm:cxn modelId="{242AEB19-ADBD-45E2-A70B-163CA078AD54}" type="presParOf" srcId="{57FEB8D3-49D5-43A6-8D3B-3EDB15A01622}" destId="{6230C150-E798-48D0-BBDB-A779D874D57A}" srcOrd="1" destOrd="0" presId="urn:microsoft.com/office/officeart/2005/8/layout/vList2"/>
    <dgm:cxn modelId="{9CD8A9A4-99B6-4285-B0B8-F5F7F27244F3}" type="presParOf" srcId="{57FEB8D3-49D5-43A6-8D3B-3EDB15A01622}" destId="{303A0B24-2D7E-4719-8666-68CFA48F7643}" srcOrd="2" destOrd="0" presId="urn:microsoft.com/office/officeart/2005/8/layout/vList2"/>
    <dgm:cxn modelId="{5CE8CAE3-B104-4785-991C-B2303F1194D7}" type="presParOf" srcId="{57FEB8D3-49D5-43A6-8D3B-3EDB15A01622}" destId="{AC8E6F30-06CD-4C12-8972-9FC32E9F6949}" srcOrd="3" destOrd="0" presId="urn:microsoft.com/office/officeart/2005/8/layout/vList2"/>
    <dgm:cxn modelId="{EAF3A412-1F63-448E-B4DA-C844A18909E7}" type="presParOf" srcId="{57FEB8D3-49D5-43A6-8D3B-3EDB15A01622}" destId="{732ECFDB-84A2-43B9-A245-C062086F84D4}" srcOrd="4" destOrd="0" presId="urn:microsoft.com/office/officeart/2005/8/layout/vList2"/>
    <dgm:cxn modelId="{BDF7E29F-8489-4D5A-9AC9-5B0986A15F63}" type="presParOf" srcId="{57FEB8D3-49D5-43A6-8D3B-3EDB15A01622}" destId="{052881D7-EA7B-4BAD-9324-B5FA8D89ADFA}" srcOrd="5" destOrd="0" presId="urn:microsoft.com/office/officeart/2005/8/layout/vList2"/>
    <dgm:cxn modelId="{EA3AC426-1C07-4694-8242-03B4E8391636}" type="presParOf" srcId="{57FEB8D3-49D5-43A6-8D3B-3EDB15A01622}" destId="{E5B2DAB7-43FB-4AA1-B639-992EAE1C4BA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5BBFBF-8F0B-48C4-9D73-162049B8FE58}" type="doc">
      <dgm:prSet loTypeId="urn:microsoft.com/office/officeart/2005/8/layout/vList2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D0FE65C9-21D7-49CB-BA7D-58C30525EC6B}">
      <dgm:prSet custT="1"/>
      <dgm:spPr/>
      <dgm:t>
        <a:bodyPr/>
        <a:lstStyle/>
        <a:p>
          <a:r>
            <a:rPr lang="en-GB" sz="1300" b="1" dirty="0">
              <a:solidFill>
                <a:schemeClr val="tx1"/>
              </a:solidFill>
            </a:rPr>
            <a:t>Total Assets is equal to the sum of Total Liabilities and Total Shareholders Equity</a:t>
          </a:r>
          <a:br>
            <a:rPr lang="en-US" sz="1300" b="1" dirty="0">
              <a:solidFill>
                <a:schemeClr val="tx1"/>
              </a:solidFill>
            </a:rPr>
          </a:br>
          <a:r>
            <a:rPr lang="en-US" sz="1300" b="1" u="sng" dirty="0">
              <a:solidFill>
                <a:schemeClr val="tx1"/>
              </a:solidFill>
            </a:rPr>
            <a:t>In 2023, </a:t>
          </a:r>
          <a:br>
            <a:rPr lang="en-US" sz="1300" b="1" dirty="0">
              <a:solidFill>
                <a:schemeClr val="tx1"/>
              </a:solidFill>
            </a:rPr>
          </a:br>
          <a:r>
            <a:rPr lang="en-US" sz="1300" b="1" dirty="0">
              <a:solidFill>
                <a:schemeClr val="tx1"/>
              </a:solidFill>
            </a:rPr>
            <a:t>Total Assets = 50%, Total Liabilities = 31.09%, and </a:t>
          </a:r>
        </a:p>
        <a:p>
          <a:r>
            <a:rPr lang="en-US" sz="1300" b="1" dirty="0">
              <a:solidFill>
                <a:schemeClr val="tx1"/>
              </a:solidFill>
            </a:rPr>
            <a:t>Total Shareholders Equity = 18.91%.</a:t>
          </a:r>
        </a:p>
      </dgm:t>
    </dgm:pt>
    <dgm:pt modelId="{8D5CF631-B84F-45BF-9699-FC4A4451DD1B}" type="parTrans" cxnId="{459508CE-7496-408E-B0FA-7575FE80C3F0}">
      <dgm:prSet/>
      <dgm:spPr/>
      <dgm:t>
        <a:bodyPr/>
        <a:lstStyle/>
        <a:p>
          <a:endParaRPr lang="en-US"/>
        </a:p>
      </dgm:t>
    </dgm:pt>
    <dgm:pt modelId="{47B15043-7AFD-4F2C-A1F1-8E589C31451D}" type="sibTrans" cxnId="{459508CE-7496-408E-B0FA-7575FE80C3F0}">
      <dgm:prSet/>
      <dgm:spPr/>
      <dgm:t>
        <a:bodyPr/>
        <a:lstStyle/>
        <a:p>
          <a:endParaRPr lang="en-US"/>
        </a:p>
      </dgm:t>
    </dgm:pt>
    <dgm:pt modelId="{337A548D-BDAE-4CFB-A4A2-C27189C91278}">
      <dgm:prSet custT="1"/>
      <dgm:spPr/>
      <dgm:t>
        <a:bodyPr/>
        <a:lstStyle/>
        <a:p>
          <a:r>
            <a:rPr lang="en-US" sz="1300" b="1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Total assets consistently exceeds total liabilities which demonstrates strong financial position and low solvency risk</a:t>
          </a:r>
          <a:r>
            <a:rPr lang="en-US" sz="1300" b="1" kern="1200" dirty="0"/>
            <a:t>. </a:t>
          </a:r>
        </a:p>
      </dgm:t>
    </dgm:pt>
    <dgm:pt modelId="{3B22264D-0356-4FAA-BA66-D725C26C3A67}" type="parTrans" cxnId="{B9A12726-B5FC-4C08-AA49-60EBCE9E8EAB}">
      <dgm:prSet/>
      <dgm:spPr/>
      <dgm:t>
        <a:bodyPr/>
        <a:lstStyle/>
        <a:p>
          <a:endParaRPr lang="en-US"/>
        </a:p>
      </dgm:t>
    </dgm:pt>
    <dgm:pt modelId="{0A4920DD-709A-4AF4-AFFF-1C7677F16AB3}" type="sibTrans" cxnId="{B9A12726-B5FC-4C08-AA49-60EBCE9E8EAB}">
      <dgm:prSet/>
      <dgm:spPr/>
      <dgm:t>
        <a:bodyPr/>
        <a:lstStyle/>
        <a:p>
          <a:endParaRPr lang="en-US"/>
        </a:p>
      </dgm:t>
    </dgm:pt>
    <dgm:pt modelId="{E0E6B2E1-8D08-4BD9-BF6F-0BA559BCF786}">
      <dgm:prSet custT="1"/>
      <dgm:spPr/>
      <dgm:t>
        <a:bodyPr/>
        <a:lstStyle/>
        <a:p>
          <a:r>
            <a:rPr lang="en-US" sz="1300" b="1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Depiction of good mix of assets and balanced capital structure resulting in enhanced financial stability.</a:t>
          </a:r>
        </a:p>
      </dgm:t>
    </dgm:pt>
    <dgm:pt modelId="{60EA7886-5D15-4086-BA76-8810D8E49498}" type="parTrans" cxnId="{A812285B-F50E-4384-923F-2A28036C3C9B}">
      <dgm:prSet/>
      <dgm:spPr/>
      <dgm:t>
        <a:bodyPr/>
        <a:lstStyle/>
        <a:p>
          <a:endParaRPr lang="en-US"/>
        </a:p>
      </dgm:t>
    </dgm:pt>
    <dgm:pt modelId="{562A899F-C4CB-4B52-8790-B572C82D9443}" type="sibTrans" cxnId="{A812285B-F50E-4384-923F-2A28036C3C9B}">
      <dgm:prSet/>
      <dgm:spPr/>
      <dgm:t>
        <a:bodyPr/>
        <a:lstStyle/>
        <a:p>
          <a:endParaRPr lang="en-US"/>
        </a:p>
      </dgm:t>
    </dgm:pt>
    <dgm:pt modelId="{290DA33A-00F4-4E7D-8FE6-D960C230A575}" type="pres">
      <dgm:prSet presAssocID="{6E5BBFBF-8F0B-48C4-9D73-162049B8FE58}" presName="linear" presStyleCnt="0">
        <dgm:presLayoutVars>
          <dgm:animLvl val="lvl"/>
          <dgm:resizeHandles val="exact"/>
        </dgm:presLayoutVars>
      </dgm:prSet>
      <dgm:spPr/>
    </dgm:pt>
    <dgm:pt modelId="{339992A1-3E91-4F0C-A8D4-7B9507817CEA}" type="pres">
      <dgm:prSet presAssocID="{D0FE65C9-21D7-49CB-BA7D-58C30525EC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AAC3AA-1E9F-4897-90E3-B479FA3B1496}" type="pres">
      <dgm:prSet presAssocID="{47B15043-7AFD-4F2C-A1F1-8E589C31451D}" presName="spacer" presStyleCnt="0"/>
      <dgm:spPr/>
    </dgm:pt>
    <dgm:pt modelId="{1CF45C55-BF3F-49EC-87FE-BA2B83A12558}" type="pres">
      <dgm:prSet presAssocID="{337A548D-BDAE-4CFB-A4A2-C27189C912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63AEDC-AF70-4C4D-9F39-D6331E4B56AD}" type="pres">
      <dgm:prSet presAssocID="{0A4920DD-709A-4AF4-AFFF-1C7677F16AB3}" presName="spacer" presStyleCnt="0"/>
      <dgm:spPr/>
    </dgm:pt>
    <dgm:pt modelId="{C6D1D6F8-6847-487D-8749-24C9B59FBB74}" type="pres">
      <dgm:prSet presAssocID="{E0E6B2E1-8D08-4BD9-BF6F-0BA559BCF78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FEDDF22-1285-44DB-8BDE-C7A8155D0B92}" type="presOf" srcId="{6E5BBFBF-8F0B-48C4-9D73-162049B8FE58}" destId="{290DA33A-00F4-4E7D-8FE6-D960C230A575}" srcOrd="0" destOrd="0" presId="urn:microsoft.com/office/officeart/2005/8/layout/vList2"/>
    <dgm:cxn modelId="{B9A12726-B5FC-4C08-AA49-60EBCE9E8EAB}" srcId="{6E5BBFBF-8F0B-48C4-9D73-162049B8FE58}" destId="{337A548D-BDAE-4CFB-A4A2-C27189C91278}" srcOrd="1" destOrd="0" parTransId="{3B22264D-0356-4FAA-BA66-D725C26C3A67}" sibTransId="{0A4920DD-709A-4AF4-AFFF-1C7677F16AB3}"/>
    <dgm:cxn modelId="{A812285B-F50E-4384-923F-2A28036C3C9B}" srcId="{6E5BBFBF-8F0B-48C4-9D73-162049B8FE58}" destId="{E0E6B2E1-8D08-4BD9-BF6F-0BA559BCF786}" srcOrd="2" destOrd="0" parTransId="{60EA7886-5D15-4086-BA76-8810D8E49498}" sibTransId="{562A899F-C4CB-4B52-8790-B572C82D9443}"/>
    <dgm:cxn modelId="{B8C8C561-2D67-4BE5-A5B8-7DA6EF82A5CC}" type="presOf" srcId="{E0E6B2E1-8D08-4BD9-BF6F-0BA559BCF786}" destId="{C6D1D6F8-6847-487D-8749-24C9B59FBB74}" srcOrd="0" destOrd="0" presId="urn:microsoft.com/office/officeart/2005/8/layout/vList2"/>
    <dgm:cxn modelId="{3CFEAD81-1B4A-40BA-9EED-37DC2793AD4F}" type="presOf" srcId="{337A548D-BDAE-4CFB-A4A2-C27189C91278}" destId="{1CF45C55-BF3F-49EC-87FE-BA2B83A12558}" srcOrd="0" destOrd="0" presId="urn:microsoft.com/office/officeart/2005/8/layout/vList2"/>
    <dgm:cxn modelId="{C957CA94-082F-4120-ACFB-FCF23A5F2EFF}" type="presOf" srcId="{D0FE65C9-21D7-49CB-BA7D-58C30525EC6B}" destId="{339992A1-3E91-4F0C-A8D4-7B9507817CEA}" srcOrd="0" destOrd="0" presId="urn:microsoft.com/office/officeart/2005/8/layout/vList2"/>
    <dgm:cxn modelId="{459508CE-7496-408E-B0FA-7575FE80C3F0}" srcId="{6E5BBFBF-8F0B-48C4-9D73-162049B8FE58}" destId="{D0FE65C9-21D7-49CB-BA7D-58C30525EC6B}" srcOrd="0" destOrd="0" parTransId="{8D5CF631-B84F-45BF-9699-FC4A4451DD1B}" sibTransId="{47B15043-7AFD-4F2C-A1F1-8E589C31451D}"/>
    <dgm:cxn modelId="{8DF058E2-958D-4DFE-9012-BC632F2D68F3}" type="presParOf" srcId="{290DA33A-00F4-4E7D-8FE6-D960C230A575}" destId="{339992A1-3E91-4F0C-A8D4-7B9507817CEA}" srcOrd="0" destOrd="0" presId="urn:microsoft.com/office/officeart/2005/8/layout/vList2"/>
    <dgm:cxn modelId="{3C1CA7BA-8FEA-47D3-98D9-5CD338F6744C}" type="presParOf" srcId="{290DA33A-00F4-4E7D-8FE6-D960C230A575}" destId="{0AAAC3AA-1E9F-4897-90E3-B479FA3B1496}" srcOrd="1" destOrd="0" presId="urn:microsoft.com/office/officeart/2005/8/layout/vList2"/>
    <dgm:cxn modelId="{8C82773E-D278-4833-8182-56517136A9C7}" type="presParOf" srcId="{290DA33A-00F4-4E7D-8FE6-D960C230A575}" destId="{1CF45C55-BF3F-49EC-87FE-BA2B83A12558}" srcOrd="2" destOrd="0" presId="urn:microsoft.com/office/officeart/2005/8/layout/vList2"/>
    <dgm:cxn modelId="{B3199880-DCE1-425B-82CA-0CAC1A26781C}" type="presParOf" srcId="{290DA33A-00F4-4E7D-8FE6-D960C230A575}" destId="{D163AEDC-AF70-4C4D-9F39-D6331E4B56AD}" srcOrd="3" destOrd="0" presId="urn:microsoft.com/office/officeart/2005/8/layout/vList2"/>
    <dgm:cxn modelId="{A248C31E-AEFA-4B41-AD08-A222FBDC2469}" type="presParOf" srcId="{290DA33A-00F4-4E7D-8FE6-D960C230A575}" destId="{C6D1D6F8-6847-487D-8749-24C9B59FBB7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495D496-AF9B-430B-9478-DF593CE2E59D}" type="doc">
      <dgm:prSet loTypeId="urn:microsoft.com/office/officeart/2005/8/layout/process1" loCatId="process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F94DB0D5-3625-47E9-88B9-11978883B40F}">
      <dgm:prSet custT="1"/>
      <dgm:spPr/>
      <dgm:t>
        <a:bodyPr/>
        <a:lstStyle/>
        <a:p>
          <a:r>
            <a:rPr lang="en-GB" sz="1300" b="1" dirty="0">
              <a:solidFill>
                <a:schemeClr val="tx1"/>
              </a:solidFill>
            </a:rPr>
            <a:t>Nike consistently outperformed the industry benchmark, which demonstrates its strong hold in the market as compared to its competitors</a:t>
          </a:r>
          <a:r>
            <a:rPr lang="en-GB" sz="1300" dirty="0">
              <a:solidFill>
                <a:schemeClr val="tx1"/>
              </a:solidFill>
            </a:rPr>
            <a:t>.</a:t>
          </a:r>
          <a:endParaRPr lang="en-US" sz="1300" dirty="0">
            <a:solidFill>
              <a:schemeClr val="tx1"/>
            </a:solidFill>
          </a:endParaRPr>
        </a:p>
      </dgm:t>
    </dgm:pt>
    <dgm:pt modelId="{6883D8B7-AA2B-4D75-8752-26D3F3A2C177}" type="parTrans" cxnId="{90BFFEF6-F491-4AC0-ABCD-113CD692773F}">
      <dgm:prSet/>
      <dgm:spPr/>
      <dgm:t>
        <a:bodyPr/>
        <a:lstStyle/>
        <a:p>
          <a:endParaRPr lang="en-US"/>
        </a:p>
      </dgm:t>
    </dgm:pt>
    <dgm:pt modelId="{5190AB72-89A0-4FEC-8CD5-D833DB335D92}" type="sibTrans" cxnId="{90BFFEF6-F491-4AC0-ABCD-113CD692773F}">
      <dgm:prSet/>
      <dgm:spPr/>
      <dgm:t>
        <a:bodyPr/>
        <a:lstStyle/>
        <a:p>
          <a:endParaRPr lang="en-US"/>
        </a:p>
      </dgm:t>
    </dgm:pt>
    <dgm:pt modelId="{DDD35E28-5025-483F-8679-26A286E8ED6A}">
      <dgm:prSet custT="1"/>
      <dgm:spPr/>
      <dgm:t>
        <a:bodyPr/>
        <a:lstStyle/>
        <a:p>
          <a:r>
            <a:rPr lang="en-GB" sz="1300" b="1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Nike collected more than 36.7% revenue than that of its competitors</a:t>
          </a:r>
          <a:r>
            <a:rPr lang="en-GB" sz="1300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.</a:t>
          </a:r>
          <a:endParaRPr lang="en-US" sz="1300" kern="1200" dirty="0">
            <a:solidFill>
              <a:prstClr val="black"/>
            </a:solidFill>
            <a:latin typeface="Century Gothic"/>
            <a:ea typeface="+mn-ea"/>
            <a:cs typeface="+mn-cs"/>
          </a:endParaRPr>
        </a:p>
      </dgm:t>
    </dgm:pt>
    <dgm:pt modelId="{0DC84F55-92B2-48D3-B78B-4670C03B8DE6}" type="parTrans" cxnId="{56AB9096-6737-408F-B55F-03C98EFDC954}">
      <dgm:prSet/>
      <dgm:spPr/>
      <dgm:t>
        <a:bodyPr/>
        <a:lstStyle/>
        <a:p>
          <a:endParaRPr lang="en-US"/>
        </a:p>
      </dgm:t>
    </dgm:pt>
    <dgm:pt modelId="{97A22962-C1B8-4D13-ABE3-55F6F94528C2}" type="sibTrans" cxnId="{56AB9096-6737-408F-B55F-03C98EFDC954}">
      <dgm:prSet/>
      <dgm:spPr/>
      <dgm:t>
        <a:bodyPr/>
        <a:lstStyle/>
        <a:p>
          <a:endParaRPr lang="en-US"/>
        </a:p>
      </dgm:t>
    </dgm:pt>
    <dgm:pt modelId="{1144570B-08D9-4A1B-9A73-01398ED2843D}">
      <dgm:prSet custT="1"/>
      <dgm:spPr/>
      <dgm:t>
        <a:bodyPr/>
        <a:lstStyle/>
        <a:p>
          <a:r>
            <a:rPr lang="en-GB" sz="1400" b="1" kern="1200" dirty="0">
              <a:solidFill>
                <a:schemeClr val="tx1"/>
              </a:solidFill>
              <a:latin typeface="Century Gothic"/>
              <a:ea typeface="+mn-ea"/>
              <a:cs typeface="+mn-cs"/>
            </a:rPr>
            <a:t>This represents its superior performance and enhanced market leadership in its field.</a:t>
          </a:r>
          <a:endParaRPr lang="en-US" sz="1400" b="1" kern="1200" dirty="0">
            <a:solidFill>
              <a:schemeClr val="tx1"/>
            </a:solidFill>
            <a:latin typeface="Century Gothic"/>
            <a:ea typeface="+mn-ea"/>
            <a:cs typeface="+mn-cs"/>
          </a:endParaRPr>
        </a:p>
      </dgm:t>
    </dgm:pt>
    <dgm:pt modelId="{D2019A6B-C246-4332-AE55-C8177BF3A1FA}" type="parTrans" cxnId="{AF9340E5-2603-4374-873D-E988C38A5DBA}">
      <dgm:prSet/>
      <dgm:spPr/>
      <dgm:t>
        <a:bodyPr/>
        <a:lstStyle/>
        <a:p>
          <a:endParaRPr lang="en-US"/>
        </a:p>
      </dgm:t>
    </dgm:pt>
    <dgm:pt modelId="{C89CA0F7-B293-4924-BA72-0B4CAEF4B7FA}" type="sibTrans" cxnId="{AF9340E5-2603-4374-873D-E988C38A5DBA}">
      <dgm:prSet/>
      <dgm:spPr/>
      <dgm:t>
        <a:bodyPr/>
        <a:lstStyle/>
        <a:p>
          <a:endParaRPr lang="en-US"/>
        </a:p>
      </dgm:t>
    </dgm:pt>
    <dgm:pt modelId="{8634C611-B176-476B-8323-CE482EEF4D84}" type="pres">
      <dgm:prSet presAssocID="{8495D496-AF9B-430B-9478-DF593CE2E59D}" presName="Name0" presStyleCnt="0">
        <dgm:presLayoutVars>
          <dgm:dir/>
          <dgm:resizeHandles val="exact"/>
        </dgm:presLayoutVars>
      </dgm:prSet>
      <dgm:spPr/>
    </dgm:pt>
    <dgm:pt modelId="{F99D593C-641D-44FA-A000-10B486C1A71F}" type="pres">
      <dgm:prSet presAssocID="{F94DB0D5-3625-47E9-88B9-11978883B40F}" presName="node" presStyleLbl="node1" presStyleIdx="0" presStyleCnt="3" custScaleX="123529">
        <dgm:presLayoutVars>
          <dgm:bulletEnabled val="1"/>
        </dgm:presLayoutVars>
      </dgm:prSet>
      <dgm:spPr/>
    </dgm:pt>
    <dgm:pt modelId="{487CA645-8F3B-4A23-AEF6-7377D04E0C52}" type="pres">
      <dgm:prSet presAssocID="{5190AB72-89A0-4FEC-8CD5-D833DB335D92}" presName="sibTrans" presStyleLbl="sibTrans2D1" presStyleIdx="0" presStyleCnt="2"/>
      <dgm:spPr/>
    </dgm:pt>
    <dgm:pt modelId="{05F3665A-DAD9-41A7-9223-A7BE45E7597B}" type="pres">
      <dgm:prSet presAssocID="{5190AB72-89A0-4FEC-8CD5-D833DB335D92}" presName="connectorText" presStyleLbl="sibTrans2D1" presStyleIdx="0" presStyleCnt="2"/>
      <dgm:spPr/>
    </dgm:pt>
    <dgm:pt modelId="{9A2A88B5-523B-44B3-8425-2E09D0D5F35E}" type="pres">
      <dgm:prSet presAssocID="{DDD35E28-5025-483F-8679-26A286E8ED6A}" presName="node" presStyleLbl="node1" presStyleIdx="1" presStyleCnt="3">
        <dgm:presLayoutVars>
          <dgm:bulletEnabled val="1"/>
        </dgm:presLayoutVars>
      </dgm:prSet>
      <dgm:spPr/>
    </dgm:pt>
    <dgm:pt modelId="{2F923058-3A90-4B88-ACC3-3401C98300B0}" type="pres">
      <dgm:prSet presAssocID="{97A22962-C1B8-4D13-ABE3-55F6F94528C2}" presName="sibTrans" presStyleLbl="sibTrans2D1" presStyleIdx="1" presStyleCnt="2"/>
      <dgm:spPr/>
    </dgm:pt>
    <dgm:pt modelId="{F62C9D54-8869-4CF6-8607-4B113AF46745}" type="pres">
      <dgm:prSet presAssocID="{97A22962-C1B8-4D13-ABE3-55F6F94528C2}" presName="connectorText" presStyleLbl="sibTrans2D1" presStyleIdx="1" presStyleCnt="2"/>
      <dgm:spPr/>
    </dgm:pt>
    <dgm:pt modelId="{BD7A9AA3-ECD9-47E6-A6F8-8276E229163E}" type="pres">
      <dgm:prSet presAssocID="{1144570B-08D9-4A1B-9A73-01398ED2843D}" presName="node" presStyleLbl="node1" presStyleIdx="2" presStyleCnt="3">
        <dgm:presLayoutVars>
          <dgm:bulletEnabled val="1"/>
        </dgm:presLayoutVars>
      </dgm:prSet>
      <dgm:spPr/>
    </dgm:pt>
  </dgm:ptLst>
  <dgm:cxnLst>
    <dgm:cxn modelId="{1410A300-5F7B-47EB-810B-F1D92CAA74AE}" type="presOf" srcId="{5190AB72-89A0-4FEC-8CD5-D833DB335D92}" destId="{05F3665A-DAD9-41A7-9223-A7BE45E7597B}" srcOrd="1" destOrd="0" presId="urn:microsoft.com/office/officeart/2005/8/layout/process1"/>
    <dgm:cxn modelId="{322CC30B-75E8-4A22-A54C-ADD140EA940C}" type="presOf" srcId="{F94DB0D5-3625-47E9-88B9-11978883B40F}" destId="{F99D593C-641D-44FA-A000-10B486C1A71F}" srcOrd="0" destOrd="0" presId="urn:microsoft.com/office/officeart/2005/8/layout/process1"/>
    <dgm:cxn modelId="{5490552A-CF02-4A82-9523-14B4FF423C1F}" type="presOf" srcId="{8495D496-AF9B-430B-9478-DF593CE2E59D}" destId="{8634C611-B176-476B-8323-CE482EEF4D84}" srcOrd="0" destOrd="0" presId="urn:microsoft.com/office/officeart/2005/8/layout/process1"/>
    <dgm:cxn modelId="{7536378A-7CEC-4F0D-A61A-78FBD000BB7F}" type="presOf" srcId="{97A22962-C1B8-4D13-ABE3-55F6F94528C2}" destId="{2F923058-3A90-4B88-ACC3-3401C98300B0}" srcOrd="0" destOrd="0" presId="urn:microsoft.com/office/officeart/2005/8/layout/process1"/>
    <dgm:cxn modelId="{70491691-D828-4F9F-B396-3B385E3AF3C2}" type="presOf" srcId="{97A22962-C1B8-4D13-ABE3-55F6F94528C2}" destId="{F62C9D54-8869-4CF6-8607-4B113AF46745}" srcOrd="1" destOrd="0" presId="urn:microsoft.com/office/officeart/2005/8/layout/process1"/>
    <dgm:cxn modelId="{56AB9096-6737-408F-B55F-03C98EFDC954}" srcId="{8495D496-AF9B-430B-9478-DF593CE2E59D}" destId="{DDD35E28-5025-483F-8679-26A286E8ED6A}" srcOrd="1" destOrd="0" parTransId="{0DC84F55-92B2-48D3-B78B-4670C03B8DE6}" sibTransId="{97A22962-C1B8-4D13-ABE3-55F6F94528C2}"/>
    <dgm:cxn modelId="{7676D7C5-1133-42A0-B848-391F6F7253F1}" type="presOf" srcId="{5190AB72-89A0-4FEC-8CD5-D833DB335D92}" destId="{487CA645-8F3B-4A23-AEF6-7377D04E0C52}" srcOrd="0" destOrd="0" presId="urn:microsoft.com/office/officeart/2005/8/layout/process1"/>
    <dgm:cxn modelId="{0BBDC3D7-6F1F-4928-91DF-B0D199567A54}" type="presOf" srcId="{DDD35E28-5025-483F-8679-26A286E8ED6A}" destId="{9A2A88B5-523B-44B3-8425-2E09D0D5F35E}" srcOrd="0" destOrd="0" presId="urn:microsoft.com/office/officeart/2005/8/layout/process1"/>
    <dgm:cxn modelId="{AF9340E5-2603-4374-873D-E988C38A5DBA}" srcId="{8495D496-AF9B-430B-9478-DF593CE2E59D}" destId="{1144570B-08D9-4A1B-9A73-01398ED2843D}" srcOrd="2" destOrd="0" parTransId="{D2019A6B-C246-4332-AE55-C8177BF3A1FA}" sibTransId="{C89CA0F7-B293-4924-BA72-0B4CAEF4B7FA}"/>
    <dgm:cxn modelId="{C9E992EC-D50C-4C08-8E77-75F59EE810B9}" type="presOf" srcId="{1144570B-08D9-4A1B-9A73-01398ED2843D}" destId="{BD7A9AA3-ECD9-47E6-A6F8-8276E229163E}" srcOrd="0" destOrd="0" presId="urn:microsoft.com/office/officeart/2005/8/layout/process1"/>
    <dgm:cxn modelId="{90BFFEF6-F491-4AC0-ABCD-113CD692773F}" srcId="{8495D496-AF9B-430B-9478-DF593CE2E59D}" destId="{F94DB0D5-3625-47E9-88B9-11978883B40F}" srcOrd="0" destOrd="0" parTransId="{6883D8B7-AA2B-4D75-8752-26D3F3A2C177}" sibTransId="{5190AB72-89A0-4FEC-8CD5-D833DB335D92}"/>
    <dgm:cxn modelId="{91BE954F-0521-45F7-8B53-165FC79C7D49}" type="presParOf" srcId="{8634C611-B176-476B-8323-CE482EEF4D84}" destId="{F99D593C-641D-44FA-A000-10B486C1A71F}" srcOrd="0" destOrd="0" presId="urn:microsoft.com/office/officeart/2005/8/layout/process1"/>
    <dgm:cxn modelId="{DD820F27-8400-40FC-BB79-067693036931}" type="presParOf" srcId="{8634C611-B176-476B-8323-CE482EEF4D84}" destId="{487CA645-8F3B-4A23-AEF6-7377D04E0C52}" srcOrd="1" destOrd="0" presId="urn:microsoft.com/office/officeart/2005/8/layout/process1"/>
    <dgm:cxn modelId="{2E7C874B-1ECD-4DD9-A163-869B446987B0}" type="presParOf" srcId="{487CA645-8F3B-4A23-AEF6-7377D04E0C52}" destId="{05F3665A-DAD9-41A7-9223-A7BE45E7597B}" srcOrd="0" destOrd="0" presId="urn:microsoft.com/office/officeart/2005/8/layout/process1"/>
    <dgm:cxn modelId="{E99BB0C6-8B32-4C1E-B2FD-67D0E54F6AE0}" type="presParOf" srcId="{8634C611-B176-476B-8323-CE482EEF4D84}" destId="{9A2A88B5-523B-44B3-8425-2E09D0D5F35E}" srcOrd="2" destOrd="0" presId="urn:microsoft.com/office/officeart/2005/8/layout/process1"/>
    <dgm:cxn modelId="{7D8E3BB7-75D6-4E8D-BB6B-258365F3065C}" type="presParOf" srcId="{8634C611-B176-476B-8323-CE482EEF4D84}" destId="{2F923058-3A90-4B88-ACC3-3401C98300B0}" srcOrd="3" destOrd="0" presId="urn:microsoft.com/office/officeart/2005/8/layout/process1"/>
    <dgm:cxn modelId="{72DD66A6-BDC6-4284-BFCF-45E08779B447}" type="presParOf" srcId="{2F923058-3A90-4B88-ACC3-3401C98300B0}" destId="{F62C9D54-8869-4CF6-8607-4B113AF46745}" srcOrd="0" destOrd="0" presId="urn:microsoft.com/office/officeart/2005/8/layout/process1"/>
    <dgm:cxn modelId="{EBF97179-C3AB-4253-9C71-61F89C28C68E}" type="presParOf" srcId="{8634C611-B176-476B-8323-CE482EEF4D84}" destId="{BD7A9AA3-ECD9-47E6-A6F8-8276E229163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88008CD-731D-4138-AAEE-4DE75AA9F869}" type="doc">
      <dgm:prSet loTypeId="urn:microsoft.com/office/officeart/2005/8/layout/vList2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F99C34EE-1EA1-41CF-BEB0-B30454241DAF}">
      <dgm:prSet custT="1"/>
      <dgm:spPr/>
      <dgm:t>
        <a:bodyPr/>
        <a:lstStyle/>
        <a:p>
          <a:r>
            <a:rPr lang="en-GB" sz="3600" dirty="0"/>
            <a:t>Will you make investment in NIKE ???</a:t>
          </a:r>
          <a:endParaRPr lang="en-US" sz="3600" dirty="0"/>
        </a:p>
      </dgm:t>
    </dgm:pt>
    <dgm:pt modelId="{7741BF4D-69F3-4CAD-8A38-340BDFADABE5}" type="parTrans" cxnId="{0EE12CB6-352F-4888-B7F9-7F67D614CD9F}">
      <dgm:prSet/>
      <dgm:spPr/>
      <dgm:t>
        <a:bodyPr/>
        <a:lstStyle/>
        <a:p>
          <a:endParaRPr lang="en-US"/>
        </a:p>
      </dgm:t>
    </dgm:pt>
    <dgm:pt modelId="{AF0A7C39-A403-4EB3-9B1F-F52D43A97650}" type="sibTrans" cxnId="{0EE12CB6-352F-4888-B7F9-7F67D614CD9F}">
      <dgm:prSet/>
      <dgm:spPr/>
      <dgm:t>
        <a:bodyPr/>
        <a:lstStyle/>
        <a:p>
          <a:endParaRPr lang="en-US"/>
        </a:p>
      </dgm:t>
    </dgm:pt>
    <dgm:pt modelId="{08BEA5DC-3F2C-4711-AB53-DBC141B6140E}" type="pres">
      <dgm:prSet presAssocID="{788008CD-731D-4138-AAEE-4DE75AA9F869}" presName="linear" presStyleCnt="0">
        <dgm:presLayoutVars>
          <dgm:animLvl val="lvl"/>
          <dgm:resizeHandles val="exact"/>
        </dgm:presLayoutVars>
      </dgm:prSet>
      <dgm:spPr/>
    </dgm:pt>
    <dgm:pt modelId="{0FE84227-340D-4D28-9005-2A8BDDCE6B47}" type="pres">
      <dgm:prSet presAssocID="{F99C34EE-1EA1-41CF-BEB0-B30454241DAF}" presName="parentText" presStyleLbl="node1" presStyleIdx="0" presStyleCnt="1" custScaleY="155161" custLinFactNeighborX="40" custLinFactNeighborY="-2644">
        <dgm:presLayoutVars>
          <dgm:chMax val="0"/>
          <dgm:bulletEnabled val="1"/>
        </dgm:presLayoutVars>
      </dgm:prSet>
      <dgm:spPr/>
    </dgm:pt>
  </dgm:ptLst>
  <dgm:cxnLst>
    <dgm:cxn modelId="{E7D3024B-95DD-4CE4-BE97-7A9356BD3E43}" type="presOf" srcId="{788008CD-731D-4138-AAEE-4DE75AA9F869}" destId="{08BEA5DC-3F2C-4711-AB53-DBC141B6140E}" srcOrd="0" destOrd="0" presId="urn:microsoft.com/office/officeart/2005/8/layout/vList2"/>
    <dgm:cxn modelId="{0EE12CB6-352F-4888-B7F9-7F67D614CD9F}" srcId="{788008CD-731D-4138-AAEE-4DE75AA9F869}" destId="{F99C34EE-1EA1-41CF-BEB0-B30454241DAF}" srcOrd="0" destOrd="0" parTransId="{7741BF4D-69F3-4CAD-8A38-340BDFADABE5}" sibTransId="{AF0A7C39-A403-4EB3-9B1F-F52D43A97650}"/>
    <dgm:cxn modelId="{CAC4B6EC-3071-48E5-9C92-9329B2C54412}" type="presOf" srcId="{F99C34EE-1EA1-41CF-BEB0-B30454241DAF}" destId="{0FE84227-340D-4D28-9005-2A8BDDCE6B47}" srcOrd="0" destOrd="0" presId="urn:microsoft.com/office/officeart/2005/8/layout/vList2"/>
    <dgm:cxn modelId="{ADEE40A7-C5EC-45FE-8446-23AE49EAB9DF}" type="presParOf" srcId="{08BEA5DC-3F2C-4711-AB53-DBC141B6140E}" destId="{0FE84227-340D-4D28-9005-2A8BDDCE6B4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9E6FA-D855-46E5-B674-E48CBF17F832}">
      <dsp:nvSpPr>
        <dsp:cNvPr id="0" name=""/>
        <dsp:cNvSpPr/>
      </dsp:nvSpPr>
      <dsp:spPr>
        <a:xfrm>
          <a:off x="0" y="354084"/>
          <a:ext cx="89154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2853D1-0FAA-4C02-AC01-F6044C1C10BC}">
      <dsp:nvSpPr>
        <dsp:cNvPr id="0" name=""/>
        <dsp:cNvSpPr/>
      </dsp:nvSpPr>
      <dsp:spPr>
        <a:xfrm>
          <a:off x="445770" y="117924"/>
          <a:ext cx="6240780" cy="472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tx1"/>
              </a:solidFill>
            </a:rPr>
            <a:t>How has been the NIKE’s Revenue and Expenses trend ? </a:t>
          </a:r>
        </a:p>
      </dsp:txBody>
      <dsp:txXfrm>
        <a:off x="468827" y="140981"/>
        <a:ext cx="6194666" cy="426206"/>
      </dsp:txXfrm>
    </dsp:sp>
    <dsp:sp modelId="{A3C34040-CD10-4ED8-A734-34223A7C188A}">
      <dsp:nvSpPr>
        <dsp:cNvPr id="0" name=""/>
        <dsp:cNvSpPr/>
      </dsp:nvSpPr>
      <dsp:spPr>
        <a:xfrm>
          <a:off x="0" y="1079844"/>
          <a:ext cx="89154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1202033"/>
              <a:satOff val="-2441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436B8-DAAD-407B-A326-41CB48346E76}">
      <dsp:nvSpPr>
        <dsp:cNvPr id="0" name=""/>
        <dsp:cNvSpPr/>
      </dsp:nvSpPr>
      <dsp:spPr>
        <a:xfrm>
          <a:off x="445770" y="843685"/>
          <a:ext cx="6240780" cy="472320"/>
        </a:xfrm>
        <a:prstGeom prst="roundRect">
          <a:avLst/>
        </a:prstGeom>
        <a:solidFill>
          <a:schemeClr val="accent5">
            <a:hueOff val="1202033"/>
            <a:satOff val="-2441"/>
            <a:lumOff val="156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tx1"/>
              </a:solidFill>
            </a:rPr>
            <a:t>How has Profit margin trend changed over time?</a:t>
          </a:r>
        </a:p>
      </dsp:txBody>
      <dsp:txXfrm>
        <a:off x="468827" y="866742"/>
        <a:ext cx="6194666" cy="426206"/>
      </dsp:txXfrm>
    </dsp:sp>
    <dsp:sp modelId="{976B97D8-B022-4B85-9567-490E472A73E1}">
      <dsp:nvSpPr>
        <dsp:cNvPr id="0" name=""/>
        <dsp:cNvSpPr/>
      </dsp:nvSpPr>
      <dsp:spPr>
        <a:xfrm>
          <a:off x="0" y="1805604"/>
          <a:ext cx="89154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2404066"/>
              <a:satOff val="-4882"/>
              <a:lumOff val="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BED88-E7AC-4ADB-9EFF-8EE3F4E81681}">
      <dsp:nvSpPr>
        <dsp:cNvPr id="0" name=""/>
        <dsp:cNvSpPr/>
      </dsp:nvSpPr>
      <dsp:spPr>
        <a:xfrm>
          <a:off x="445770" y="1595521"/>
          <a:ext cx="6240780" cy="472320"/>
        </a:xfrm>
        <a:prstGeom prst="roundRect">
          <a:avLst/>
        </a:prstGeom>
        <a:solidFill>
          <a:schemeClr val="accent5">
            <a:hueOff val="2404066"/>
            <a:satOff val="-4882"/>
            <a:lumOff val="313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tx1"/>
              </a:solidFill>
            </a:rPr>
            <a:t>How favourable is NIKE’s Liquidity position?  </a:t>
          </a:r>
        </a:p>
      </dsp:txBody>
      <dsp:txXfrm>
        <a:off x="468827" y="1618578"/>
        <a:ext cx="6194666" cy="426206"/>
      </dsp:txXfrm>
    </dsp:sp>
    <dsp:sp modelId="{95891BBD-995A-49B3-8256-7BB5F8DBFEDC}">
      <dsp:nvSpPr>
        <dsp:cNvPr id="0" name=""/>
        <dsp:cNvSpPr/>
      </dsp:nvSpPr>
      <dsp:spPr>
        <a:xfrm>
          <a:off x="0" y="2531364"/>
          <a:ext cx="89154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3606099"/>
              <a:satOff val="-7323"/>
              <a:lumOff val="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DB0D3-93E3-4B8A-B333-6870B8E909F5}">
      <dsp:nvSpPr>
        <dsp:cNvPr id="0" name=""/>
        <dsp:cNvSpPr/>
      </dsp:nvSpPr>
      <dsp:spPr>
        <a:xfrm>
          <a:off x="445770" y="2295204"/>
          <a:ext cx="6240780" cy="472320"/>
        </a:xfrm>
        <a:prstGeom prst="roundRect">
          <a:avLst/>
        </a:prstGeom>
        <a:solidFill>
          <a:schemeClr val="accent5">
            <a:hueOff val="3606099"/>
            <a:satOff val="-7323"/>
            <a:lumOff val="470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tx1"/>
              </a:solidFill>
            </a:rPr>
            <a:t>Comparison of Assets, Liabilities and Equity over time.</a:t>
          </a:r>
        </a:p>
      </dsp:txBody>
      <dsp:txXfrm>
        <a:off x="468827" y="2318261"/>
        <a:ext cx="6194666" cy="426206"/>
      </dsp:txXfrm>
    </dsp:sp>
    <dsp:sp modelId="{442A9787-627C-448E-A6AE-351DA210C6CB}">
      <dsp:nvSpPr>
        <dsp:cNvPr id="0" name=""/>
        <dsp:cNvSpPr/>
      </dsp:nvSpPr>
      <dsp:spPr>
        <a:xfrm>
          <a:off x="0" y="3257125"/>
          <a:ext cx="89154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4808133"/>
              <a:satOff val="-9764"/>
              <a:lumOff val="6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D5B97-20E5-4191-BAD6-107A777E9AFE}">
      <dsp:nvSpPr>
        <dsp:cNvPr id="0" name=""/>
        <dsp:cNvSpPr/>
      </dsp:nvSpPr>
      <dsp:spPr>
        <a:xfrm>
          <a:off x="445770" y="3020965"/>
          <a:ext cx="6240780" cy="472320"/>
        </a:xfrm>
        <a:prstGeom prst="roundRect">
          <a:avLst/>
        </a:prstGeom>
        <a:solidFill>
          <a:schemeClr val="accent5">
            <a:hueOff val="4808133"/>
            <a:satOff val="-9764"/>
            <a:lumOff val="62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887" tIns="0" rIns="23588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tx1"/>
              </a:solidFill>
            </a:rPr>
            <a:t>Comparison of Actual Revenue with Industry Average. </a:t>
          </a:r>
        </a:p>
      </dsp:txBody>
      <dsp:txXfrm>
        <a:off x="468827" y="3044022"/>
        <a:ext cx="619466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56C8C-985C-40D5-8E13-14962AA91FBA}">
      <dsp:nvSpPr>
        <dsp:cNvPr id="0" name=""/>
        <dsp:cNvSpPr/>
      </dsp:nvSpPr>
      <dsp:spPr>
        <a:xfrm>
          <a:off x="0" y="146010"/>
          <a:ext cx="3667874" cy="107493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solidFill>
                <a:schemeClr val="tx1"/>
              </a:solidFill>
            </a:rPr>
            <a:t>Revenue Growth has outpaced the expenses in the given time frame.</a:t>
          </a:r>
          <a:endParaRPr lang="en-US" sz="1500" b="1" kern="1200" dirty="0">
            <a:solidFill>
              <a:schemeClr val="tx1"/>
            </a:solidFill>
          </a:endParaRPr>
        </a:p>
      </dsp:txBody>
      <dsp:txXfrm>
        <a:off x="52474" y="198484"/>
        <a:ext cx="3562926" cy="969989"/>
      </dsp:txXfrm>
    </dsp:sp>
    <dsp:sp modelId="{E02DF359-D8C8-42E4-B24E-8C21031812B3}">
      <dsp:nvSpPr>
        <dsp:cNvPr id="0" name=""/>
        <dsp:cNvSpPr/>
      </dsp:nvSpPr>
      <dsp:spPr>
        <a:xfrm>
          <a:off x="0" y="1264148"/>
          <a:ext cx="3667874" cy="107493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solidFill>
                <a:schemeClr val="tx1"/>
              </a:solidFill>
            </a:rPr>
            <a:t>There seems to be huge dip in revenue in the year 2020. which suggests the post pandemic effect in business.</a:t>
          </a:r>
          <a:endParaRPr lang="en-US" sz="1500" b="1" kern="1200" dirty="0">
            <a:solidFill>
              <a:schemeClr val="tx1"/>
            </a:solidFill>
          </a:endParaRPr>
        </a:p>
      </dsp:txBody>
      <dsp:txXfrm>
        <a:off x="52474" y="1316622"/>
        <a:ext cx="3562926" cy="969989"/>
      </dsp:txXfrm>
    </dsp:sp>
    <dsp:sp modelId="{4EC00A5C-A762-4DF4-AFE7-F1D3D513D079}">
      <dsp:nvSpPr>
        <dsp:cNvPr id="0" name=""/>
        <dsp:cNvSpPr/>
      </dsp:nvSpPr>
      <dsp:spPr>
        <a:xfrm>
          <a:off x="0" y="2382285"/>
          <a:ext cx="3667874" cy="107493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solidFill>
                <a:schemeClr val="tx1"/>
              </a:solidFill>
            </a:rPr>
            <a:t>Cyclical trend</a:t>
          </a:r>
          <a:endParaRPr lang="en-US" sz="1500" b="1" kern="1200" dirty="0">
            <a:solidFill>
              <a:schemeClr val="tx1"/>
            </a:solidFill>
          </a:endParaRPr>
        </a:p>
      </dsp:txBody>
      <dsp:txXfrm>
        <a:off x="52474" y="2434759"/>
        <a:ext cx="3562926" cy="969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2F6DE-8214-4881-ADD2-FA5E0FB026C1}">
      <dsp:nvSpPr>
        <dsp:cNvPr id="0" name=""/>
        <dsp:cNvSpPr/>
      </dsp:nvSpPr>
      <dsp:spPr>
        <a:xfrm>
          <a:off x="0" y="30820"/>
          <a:ext cx="2945673" cy="180573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tx1"/>
              </a:solidFill>
            </a:rPr>
            <a:t>Gross Profit bounced back after the post pandemic demonstrating NIKE’s strong pricing and cost control</a:t>
          </a:r>
          <a:r>
            <a:rPr lang="en-GB" sz="1800" b="1" kern="1200" dirty="0">
              <a:solidFill>
                <a:schemeClr val="tx1"/>
              </a:solidFill>
            </a:rPr>
            <a:t>.</a:t>
          </a:r>
          <a:endParaRPr lang="en-US" sz="1800" b="1" kern="1200" dirty="0">
            <a:solidFill>
              <a:schemeClr val="tx1"/>
            </a:solidFill>
          </a:endParaRPr>
        </a:p>
      </dsp:txBody>
      <dsp:txXfrm>
        <a:off x="88149" y="118969"/>
        <a:ext cx="2769375" cy="16294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2C4CF-B4D3-433A-BE6E-E4F1EC91BFF8}">
      <dsp:nvSpPr>
        <dsp:cNvPr id="0" name=""/>
        <dsp:cNvSpPr/>
      </dsp:nvSpPr>
      <dsp:spPr>
        <a:xfrm>
          <a:off x="0" y="78646"/>
          <a:ext cx="5668890" cy="59587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solidFill>
                <a:schemeClr val="tx1"/>
              </a:solidFill>
            </a:rPr>
            <a:t>Sudden Dip in 2020 due to COVID</a:t>
          </a:r>
          <a:r>
            <a:rPr lang="en-GB" sz="1500" kern="1200" dirty="0">
              <a:solidFill>
                <a:schemeClr val="tx1"/>
              </a:solidFill>
            </a:rPr>
            <a:t>.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29088" y="107734"/>
        <a:ext cx="5610714" cy="537701"/>
      </dsp:txXfrm>
    </dsp:sp>
    <dsp:sp modelId="{013D9224-33ED-430D-AA1B-2E2B0452750A}">
      <dsp:nvSpPr>
        <dsp:cNvPr id="0" name=""/>
        <dsp:cNvSpPr/>
      </dsp:nvSpPr>
      <dsp:spPr>
        <a:xfrm>
          <a:off x="0" y="717723"/>
          <a:ext cx="5668890" cy="59587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solidFill>
                <a:schemeClr val="tx1"/>
              </a:solidFill>
            </a:rPr>
            <a:t>The net profit margin trend exceeds the industry expected net profit margin growth rate (around 7% to 9%).</a:t>
          </a:r>
          <a:endParaRPr lang="en-US" sz="1500" b="1" kern="1200" dirty="0">
            <a:solidFill>
              <a:schemeClr val="tx1"/>
            </a:solidFill>
          </a:endParaRPr>
        </a:p>
      </dsp:txBody>
      <dsp:txXfrm>
        <a:off x="29088" y="746811"/>
        <a:ext cx="5610714" cy="537701"/>
      </dsp:txXfrm>
    </dsp:sp>
    <dsp:sp modelId="{C2561BD5-0E05-4F95-B934-61970A5663E0}">
      <dsp:nvSpPr>
        <dsp:cNvPr id="0" name=""/>
        <dsp:cNvSpPr/>
      </dsp:nvSpPr>
      <dsp:spPr>
        <a:xfrm>
          <a:off x="0" y="1356801"/>
          <a:ext cx="5668890" cy="595877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solidFill>
                <a:schemeClr val="tx1"/>
              </a:solidFill>
            </a:rPr>
            <a:t>Recovery and stabilization Phase after the pandemic.</a:t>
          </a:r>
          <a:endParaRPr lang="en-US" sz="1500" b="1" kern="1200" dirty="0">
            <a:solidFill>
              <a:schemeClr val="tx1"/>
            </a:solidFill>
          </a:endParaRPr>
        </a:p>
      </dsp:txBody>
      <dsp:txXfrm>
        <a:off x="29088" y="1385889"/>
        <a:ext cx="5610714" cy="5377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A4320-C82E-43DE-85BF-3B7563AFCB3D}">
      <dsp:nvSpPr>
        <dsp:cNvPr id="0" name=""/>
        <dsp:cNvSpPr/>
      </dsp:nvSpPr>
      <dsp:spPr>
        <a:xfrm>
          <a:off x="0" y="1896"/>
          <a:ext cx="4606488" cy="103819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tx1"/>
              </a:solidFill>
            </a:rPr>
            <a:t>Cash and Equivalents were used for monitoring the Liquidity position over time</a:t>
          </a:r>
          <a:r>
            <a:rPr lang="en-GB" sz="1500" b="1" kern="1200" dirty="0">
              <a:solidFill>
                <a:schemeClr val="tx1"/>
              </a:solidFill>
            </a:rPr>
            <a:t>.</a:t>
          </a:r>
          <a:endParaRPr lang="en-US" sz="1500" b="1" kern="1200" dirty="0">
            <a:solidFill>
              <a:schemeClr val="tx1"/>
            </a:solidFill>
          </a:endParaRPr>
        </a:p>
      </dsp:txBody>
      <dsp:txXfrm>
        <a:off x="50681" y="52577"/>
        <a:ext cx="4505126" cy="936834"/>
      </dsp:txXfrm>
    </dsp:sp>
    <dsp:sp modelId="{303A0B24-2D7E-4719-8666-68CFA48F7643}">
      <dsp:nvSpPr>
        <dsp:cNvPr id="0" name=""/>
        <dsp:cNvSpPr/>
      </dsp:nvSpPr>
      <dsp:spPr>
        <a:xfrm>
          <a:off x="0" y="1072144"/>
          <a:ext cx="4606488" cy="103819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tx1"/>
              </a:solidFill>
            </a:rPr>
            <a:t>Fluctuations are highly seen.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50681" y="1122825"/>
        <a:ext cx="4505126" cy="936834"/>
      </dsp:txXfrm>
    </dsp:sp>
    <dsp:sp modelId="{732ECFDB-84A2-43B9-A245-C062086F84D4}">
      <dsp:nvSpPr>
        <dsp:cNvPr id="0" name=""/>
        <dsp:cNvSpPr/>
      </dsp:nvSpPr>
      <dsp:spPr>
        <a:xfrm>
          <a:off x="0" y="2103686"/>
          <a:ext cx="4606488" cy="103819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tx1"/>
              </a:solidFill>
            </a:rPr>
            <a:t>Notable Spike in the year 2020 and 2021 due to the adoption of precautionary measures in the pandemic period.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50681" y="2154367"/>
        <a:ext cx="4505126" cy="936834"/>
      </dsp:txXfrm>
    </dsp:sp>
    <dsp:sp modelId="{E5B2DAB7-43FB-4AA1-B639-992EAE1C4BA7}">
      <dsp:nvSpPr>
        <dsp:cNvPr id="0" name=""/>
        <dsp:cNvSpPr/>
      </dsp:nvSpPr>
      <dsp:spPr>
        <a:xfrm>
          <a:off x="0" y="3154581"/>
          <a:ext cx="4606488" cy="1038196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tx1"/>
              </a:solidFill>
            </a:rPr>
            <a:t>Stable Liquidity post pandemic but slightly declining.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50681" y="3205262"/>
        <a:ext cx="4505126" cy="9368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992A1-3E91-4F0C-A8D4-7B9507817CEA}">
      <dsp:nvSpPr>
        <dsp:cNvPr id="0" name=""/>
        <dsp:cNvSpPr/>
      </dsp:nvSpPr>
      <dsp:spPr>
        <a:xfrm>
          <a:off x="0" y="1051"/>
          <a:ext cx="5379821" cy="1213235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tx1"/>
              </a:solidFill>
            </a:rPr>
            <a:t>Total Assets is equal to the sum of Total Liabilities and Total Shareholders Equity</a:t>
          </a:r>
          <a:br>
            <a:rPr lang="en-US" sz="1300" b="1" kern="1200" dirty="0">
              <a:solidFill>
                <a:schemeClr val="tx1"/>
              </a:solidFill>
            </a:rPr>
          </a:br>
          <a:r>
            <a:rPr lang="en-US" sz="1300" b="1" u="sng" kern="1200" dirty="0">
              <a:solidFill>
                <a:schemeClr val="tx1"/>
              </a:solidFill>
            </a:rPr>
            <a:t>In 2023, </a:t>
          </a:r>
          <a:br>
            <a:rPr lang="en-US" sz="1300" b="1" kern="1200" dirty="0">
              <a:solidFill>
                <a:schemeClr val="tx1"/>
              </a:solidFill>
            </a:rPr>
          </a:br>
          <a:r>
            <a:rPr lang="en-US" sz="1300" b="1" kern="1200" dirty="0">
              <a:solidFill>
                <a:schemeClr val="tx1"/>
              </a:solidFill>
            </a:rPr>
            <a:t>Total Assets = 50%, Total Liabilities = 31.09%, and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tx1"/>
              </a:solidFill>
            </a:rPr>
            <a:t>Total Shareholders Equity = 18.91%.</a:t>
          </a:r>
        </a:p>
      </dsp:txBody>
      <dsp:txXfrm>
        <a:off x="59225" y="60276"/>
        <a:ext cx="5261371" cy="1094785"/>
      </dsp:txXfrm>
    </dsp:sp>
    <dsp:sp modelId="{1CF45C55-BF3F-49EC-87FE-BA2B83A12558}">
      <dsp:nvSpPr>
        <dsp:cNvPr id="0" name=""/>
        <dsp:cNvSpPr/>
      </dsp:nvSpPr>
      <dsp:spPr>
        <a:xfrm>
          <a:off x="0" y="1228644"/>
          <a:ext cx="5379821" cy="1213235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Total assets consistently exceeds total liabilities which demonstrates strong financial position and low solvency risk</a:t>
          </a:r>
          <a:r>
            <a:rPr lang="en-US" sz="1300" b="1" kern="1200" dirty="0"/>
            <a:t>. </a:t>
          </a:r>
        </a:p>
      </dsp:txBody>
      <dsp:txXfrm>
        <a:off x="59225" y="1287869"/>
        <a:ext cx="5261371" cy="1094785"/>
      </dsp:txXfrm>
    </dsp:sp>
    <dsp:sp modelId="{C6D1D6F8-6847-487D-8749-24C9B59FBB74}">
      <dsp:nvSpPr>
        <dsp:cNvPr id="0" name=""/>
        <dsp:cNvSpPr/>
      </dsp:nvSpPr>
      <dsp:spPr>
        <a:xfrm>
          <a:off x="0" y="2456237"/>
          <a:ext cx="5379821" cy="1213235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Depiction of good mix of assets and balanced capital structure resulting in enhanced financial stability.</a:t>
          </a:r>
        </a:p>
      </dsp:txBody>
      <dsp:txXfrm>
        <a:off x="59225" y="2515462"/>
        <a:ext cx="5261371" cy="10947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D593C-641D-44FA-A000-10B486C1A71F}">
      <dsp:nvSpPr>
        <dsp:cNvPr id="0" name=""/>
        <dsp:cNvSpPr/>
      </dsp:nvSpPr>
      <dsp:spPr>
        <a:xfrm>
          <a:off x="4639" y="0"/>
          <a:ext cx="2780250" cy="120032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schemeClr val="tx1"/>
              </a:solidFill>
            </a:rPr>
            <a:t>Nike consistently outperformed the industry benchmark, which demonstrates its strong hold in the market as compared to its competitors</a:t>
          </a:r>
          <a:r>
            <a:rPr lang="en-GB" sz="1300" kern="1200" dirty="0">
              <a:solidFill>
                <a:schemeClr val="tx1"/>
              </a:solidFill>
            </a:rPr>
            <a:t>.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39795" y="35156"/>
        <a:ext cx="2709938" cy="1130017"/>
      </dsp:txXfrm>
    </dsp:sp>
    <dsp:sp modelId="{487CA645-8F3B-4A23-AEF6-7377D04E0C52}">
      <dsp:nvSpPr>
        <dsp:cNvPr id="0" name=""/>
        <dsp:cNvSpPr/>
      </dsp:nvSpPr>
      <dsp:spPr>
        <a:xfrm>
          <a:off x="3009958" y="321079"/>
          <a:ext cx="477145" cy="558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3009958" y="432713"/>
        <a:ext cx="334002" cy="334902"/>
      </dsp:txXfrm>
    </dsp:sp>
    <dsp:sp modelId="{9A2A88B5-523B-44B3-8425-2E09D0D5F35E}">
      <dsp:nvSpPr>
        <dsp:cNvPr id="0" name=""/>
        <dsp:cNvSpPr/>
      </dsp:nvSpPr>
      <dsp:spPr>
        <a:xfrm>
          <a:off x="3685164" y="0"/>
          <a:ext cx="2250686" cy="120032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Nike collected more than 36.7% revenue than that of its competitors</a:t>
          </a:r>
          <a:r>
            <a:rPr lang="en-GB" sz="1300" kern="1200" dirty="0">
              <a:solidFill>
                <a:prstClr val="black"/>
              </a:solidFill>
              <a:latin typeface="Century Gothic"/>
              <a:ea typeface="+mn-ea"/>
              <a:cs typeface="+mn-cs"/>
            </a:rPr>
            <a:t>.</a:t>
          </a:r>
          <a:endParaRPr lang="en-US" sz="1300" kern="1200" dirty="0">
            <a:solidFill>
              <a:prstClr val="black"/>
            </a:solidFill>
            <a:latin typeface="Century Gothic"/>
            <a:ea typeface="+mn-ea"/>
            <a:cs typeface="+mn-cs"/>
          </a:endParaRPr>
        </a:p>
      </dsp:txBody>
      <dsp:txXfrm>
        <a:off x="3720320" y="35156"/>
        <a:ext cx="2180374" cy="1130017"/>
      </dsp:txXfrm>
    </dsp:sp>
    <dsp:sp modelId="{2F923058-3A90-4B88-ACC3-3401C98300B0}">
      <dsp:nvSpPr>
        <dsp:cNvPr id="0" name=""/>
        <dsp:cNvSpPr/>
      </dsp:nvSpPr>
      <dsp:spPr>
        <a:xfrm>
          <a:off x="6160919" y="321079"/>
          <a:ext cx="477145" cy="558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07604"/>
            <a:satOff val="-4532"/>
            <a:lumOff val="30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160919" y="432713"/>
        <a:ext cx="334002" cy="334902"/>
      </dsp:txXfrm>
    </dsp:sp>
    <dsp:sp modelId="{BD7A9AA3-ECD9-47E6-A6F8-8276E229163E}">
      <dsp:nvSpPr>
        <dsp:cNvPr id="0" name=""/>
        <dsp:cNvSpPr/>
      </dsp:nvSpPr>
      <dsp:spPr>
        <a:xfrm>
          <a:off x="6836125" y="0"/>
          <a:ext cx="2250686" cy="120032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tx1"/>
              </a:solidFill>
              <a:latin typeface="Century Gothic"/>
              <a:ea typeface="+mn-ea"/>
              <a:cs typeface="+mn-cs"/>
            </a:rPr>
            <a:t>This represents its superior performance and enhanced market leadership in its field.</a:t>
          </a:r>
          <a:endParaRPr lang="en-US" sz="1400" b="1" kern="1200" dirty="0">
            <a:solidFill>
              <a:schemeClr val="tx1"/>
            </a:solidFill>
            <a:latin typeface="Century Gothic"/>
            <a:ea typeface="+mn-ea"/>
            <a:cs typeface="+mn-cs"/>
          </a:endParaRPr>
        </a:p>
      </dsp:txBody>
      <dsp:txXfrm>
        <a:off x="6871281" y="35156"/>
        <a:ext cx="2180374" cy="11300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84227-340D-4D28-9005-2A8BDDCE6B47}">
      <dsp:nvSpPr>
        <dsp:cNvPr id="0" name=""/>
        <dsp:cNvSpPr/>
      </dsp:nvSpPr>
      <dsp:spPr>
        <a:xfrm>
          <a:off x="0" y="207068"/>
          <a:ext cx="9267166" cy="1887999"/>
        </a:xfrm>
        <a:prstGeom prst="round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Will you make investment in NIKE ???</a:t>
          </a:r>
          <a:endParaRPr lang="en-US" sz="3600" kern="1200" dirty="0"/>
        </a:p>
      </dsp:txBody>
      <dsp:txXfrm>
        <a:off x="92165" y="299233"/>
        <a:ext cx="9082836" cy="1703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13" Type="http://schemas.openxmlformats.org/officeDocument/2006/relationships/diagramColors" Target="../diagrams/colors4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3.xml"/><Relationship Id="rId12" Type="http://schemas.openxmlformats.org/officeDocument/2006/relationships/diagramQuickStyle" Target="../diagrams/quickStyle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11" Type="http://schemas.openxmlformats.org/officeDocument/2006/relationships/diagramLayout" Target="../diagrams/layout4.xml"/><Relationship Id="rId5" Type="http://schemas.openxmlformats.org/officeDocument/2006/relationships/diagramData" Target="../diagrams/data3.xml"/><Relationship Id="rId10" Type="http://schemas.openxmlformats.org/officeDocument/2006/relationships/diagramData" Target="../diagrams/data4.xml"/><Relationship Id="rId4" Type="http://schemas.openxmlformats.org/officeDocument/2006/relationships/image" Target="../media/image6.png"/><Relationship Id="rId9" Type="http://schemas.microsoft.com/office/2007/relationships/diagramDrawing" Target="../diagrams/drawing3.xml"/><Relationship Id="rId14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9.png"/><Relationship Id="rId9" Type="http://schemas.microsoft.com/office/2007/relationships/diagramDrawing" Target="../diagrams/drawin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11.png"/><Relationship Id="rId9" Type="http://schemas.microsoft.com/office/2007/relationships/diagramDrawing" Target="../diagrams/drawin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0547" y="173645"/>
            <a:ext cx="8911687" cy="1197956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chemeClr val="bg2"/>
                </a:solidFill>
              </a:rPr>
              <a:t>Financial Analysis of NIKE Inc.</a:t>
            </a:r>
            <a:br>
              <a:rPr lang="en-US" sz="4000" b="1" u="sng" dirty="0">
                <a:solidFill>
                  <a:schemeClr val="bg2"/>
                </a:solidFill>
              </a:rPr>
            </a:br>
            <a:br>
              <a:rPr lang="en-US" sz="4000" b="1" u="sng" dirty="0"/>
            </a:br>
            <a:br>
              <a:rPr lang="en-US" sz="4000" b="1" u="sng" dirty="0"/>
            </a:br>
            <a:endParaRPr lang="en-US" sz="4000" b="1" u="sng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2548572" y="4546138"/>
            <a:ext cx="9297988" cy="1847273"/>
          </a:xfrm>
        </p:spPr>
        <p:txBody>
          <a:bodyPr>
            <a:normAutofit/>
          </a:bodyPr>
          <a:lstStyle/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Amit Lamsal</a:t>
            </a:r>
          </a:p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CSDA 5310: Data Visualizations</a:t>
            </a:r>
          </a:p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Student Id: 4262165</a:t>
            </a:r>
          </a:p>
          <a:p>
            <a:pPr algn="r">
              <a:buNone/>
            </a:pPr>
            <a:r>
              <a:rPr lang="en-US" sz="2000" b="1" dirty="0">
                <a:solidFill>
                  <a:schemeClr val="bg2"/>
                </a:solidFill>
              </a:rPr>
              <a:t>12/17/2024</a:t>
            </a:r>
          </a:p>
        </p:txBody>
      </p:sp>
      <p:pic>
        <p:nvPicPr>
          <p:cNvPr id="9" name="Picture 8" descr="A white swoosh logo on a black background&#10;&#10;Description automatically generated">
            <a:extLst>
              <a:ext uri="{FF2B5EF4-FFF2-40B4-BE49-F238E27FC236}">
                <a16:creationId xmlns:a16="http://schemas.microsoft.com/office/drawing/2014/main" id="{366DA851-5D6B-90C4-DB5D-54545392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52" y="1371601"/>
            <a:ext cx="5219272" cy="324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6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bg2"/>
                </a:solidFill>
              </a:rPr>
              <a:t>Background</a:t>
            </a:r>
            <a:r>
              <a:rPr lang="en-US" b="1" u="sng" dirty="0">
                <a:solidFill>
                  <a:schemeClr val="bg2"/>
                </a:solidFill>
              </a:rPr>
              <a:t> </a:t>
            </a:r>
            <a:r>
              <a:rPr lang="en-US" b="1" u="sng" dirty="0"/>
              <a:t>  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905000"/>
            <a:ext cx="9218612" cy="41365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Financial Analysis is the process of assessing the financial health of a company using its key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Nike is the global market leader in sportswear and apparel and are also renowned for its innovation, branding, sustainability.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Data Exploration: (Dataset Obtained from official company (nike.com) and Government (sec.gov) websites.</a:t>
            </a:r>
          </a:p>
          <a:p>
            <a:pPr marL="0" indent="0">
              <a:buNone/>
            </a:pPr>
            <a:endParaRPr lang="en-US" sz="2000" b="1" dirty="0"/>
          </a:p>
          <a:p>
            <a:pPr>
              <a:buFont typeface="Wingdings" pitchFamily="2" charset="2"/>
              <a:buChar char="Ø"/>
            </a:pPr>
            <a:endParaRPr lang="en-US" sz="2000" dirty="0"/>
          </a:p>
          <a:p>
            <a:pPr>
              <a:buFont typeface="Wingdings" pitchFamily="2" charset="2"/>
              <a:buChar char="Ø"/>
            </a:pPr>
            <a:endParaRPr lang="en-US" sz="2000" dirty="0"/>
          </a:p>
          <a:p>
            <a:pPr>
              <a:buFont typeface="Wingdings" pitchFamily="2" charset="2"/>
              <a:buChar char="Ø"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667920"/>
              </p:ext>
            </p:extLst>
          </p:nvPr>
        </p:nvGraphicFramePr>
        <p:xfrm>
          <a:off x="2711151" y="4276350"/>
          <a:ext cx="8128000" cy="1497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2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9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380">
                <a:tc>
                  <a:txBody>
                    <a:bodyPr/>
                    <a:lstStyle/>
                    <a:p>
                      <a:r>
                        <a:rPr lang="en-GB" dirty="0"/>
                        <a:t>Statements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Metrics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80">
                <a:tc>
                  <a:txBody>
                    <a:bodyPr/>
                    <a:lstStyle/>
                    <a:p>
                      <a:r>
                        <a:rPr lang="en-GB" b="1" dirty="0"/>
                        <a:t>Income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u="none" dirty="0"/>
                        <a:t>Revenue, Cost of Sales, Gross Profit, Net 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380">
                <a:tc>
                  <a:txBody>
                    <a:bodyPr/>
                    <a:lstStyle/>
                    <a:p>
                      <a:r>
                        <a:rPr lang="en-GB" b="1" dirty="0"/>
                        <a:t>Balance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u="none" dirty="0"/>
                        <a:t>Total Assets, Total Liabilities, Shareholders Equity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380">
                <a:tc>
                  <a:txBody>
                    <a:bodyPr/>
                    <a:lstStyle/>
                    <a:p>
                      <a:r>
                        <a:rPr lang="en-GB" b="1" dirty="0"/>
                        <a:t>Industry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u="none" dirty="0"/>
                        <a:t>Gross Industry Average,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BCFCE3F-2946-E838-4851-489C69BA4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3175"/>
          </a:xfrm>
        </p:spPr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Analysis Goals</a:t>
            </a:r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130667"/>
              </p:ext>
            </p:extLst>
          </p:nvPr>
        </p:nvGraphicFramePr>
        <p:xfrm>
          <a:off x="2589213" y="2442126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white swoosh logo on a black background&#10;&#10;Description automatically generated">
            <a:extLst>
              <a:ext uri="{FF2B5EF4-FFF2-40B4-BE49-F238E27FC236}">
                <a16:creationId xmlns:a16="http://schemas.microsoft.com/office/drawing/2014/main" id="{2881E0FD-9C0A-44BE-AEB7-FC262ECB54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6657" y="0"/>
            <a:ext cx="1908355" cy="1319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EC7459-6970-DA1C-1A67-9CCFB8761765}"/>
              </a:ext>
            </a:extLst>
          </p:cNvPr>
          <p:cNvSpPr txBox="1"/>
          <p:nvPr/>
        </p:nvSpPr>
        <p:spPr>
          <a:xfrm>
            <a:off x="2589213" y="1698229"/>
            <a:ext cx="807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The major objective is to determine why one should consider NIKE for their investment and is it really the global  leader that we heard of ?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54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A2C1-5C17-2074-2390-67042530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194416"/>
          </a:xfrm>
        </p:spPr>
        <p:txBody>
          <a:bodyPr>
            <a:normAutofit/>
          </a:bodyPr>
          <a:lstStyle/>
          <a:p>
            <a:r>
              <a:rPr lang="en-GB" u="sng" dirty="0">
                <a:solidFill>
                  <a:schemeClr val="bg2"/>
                </a:solidFill>
              </a:rPr>
              <a:t>Analysis:</a:t>
            </a:r>
            <a:br>
              <a:rPr lang="en-GB" b="1" u="sng" dirty="0">
                <a:solidFill>
                  <a:schemeClr val="bg2"/>
                </a:solidFill>
              </a:rPr>
            </a:br>
            <a:r>
              <a:rPr lang="en-GB" u="sng" dirty="0">
                <a:solidFill>
                  <a:schemeClr val="bg2"/>
                </a:solidFill>
              </a:rPr>
              <a:t>Revenue and Expenses Trend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55668-6B0A-A265-90B9-7F5046A1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788"/>
            <a:ext cx="1908213" cy="1316850"/>
          </a:xfrm>
          <a:prstGeom prst="rect">
            <a:avLst/>
          </a:prstGeom>
        </p:spPr>
      </p:pic>
      <p:pic>
        <p:nvPicPr>
          <p:cNvPr id="10" name="Content Placeholder 9" descr="A graph with green lines and numbers&#10;&#10;Description automatically generated">
            <a:extLst>
              <a:ext uri="{FF2B5EF4-FFF2-40B4-BE49-F238E27FC236}">
                <a16:creationId xmlns:a16="http://schemas.microsoft.com/office/drawing/2014/main" id="{341B7E4E-5D1B-E5B4-7190-D36353538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8607" y="2140020"/>
            <a:ext cx="5770652" cy="3603234"/>
          </a:xfr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5B6CDFA-CB5D-538F-5D03-E6BF37E6E0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0613818"/>
              </p:ext>
            </p:extLst>
          </p:nvPr>
        </p:nvGraphicFramePr>
        <p:xfrm>
          <a:off x="2428126" y="2140020"/>
          <a:ext cx="3667874" cy="3603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6962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F8FBF-7FF2-51C1-5B97-B66954F1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Profit Margin Trend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5AF52-FE73-2E6E-E8F2-E3E7336C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  <p:pic>
        <p:nvPicPr>
          <p:cNvPr id="14" name="Picture 13" descr="A graph with green lines and numbers on a black background&#10;&#10;Description automatically generated">
            <a:extLst>
              <a:ext uri="{FF2B5EF4-FFF2-40B4-BE49-F238E27FC236}">
                <a16:creationId xmlns:a16="http://schemas.microsoft.com/office/drawing/2014/main" id="{7D722942-2510-A3C6-B4A7-31ED4818F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820" y="1524923"/>
            <a:ext cx="5767791" cy="2638792"/>
          </a:xfrm>
          <a:prstGeom prst="rect">
            <a:avLst/>
          </a:prstGeom>
        </p:spPr>
      </p:pic>
      <p:pic>
        <p:nvPicPr>
          <p:cNvPr id="18" name="Content Placeholder 17" descr="A graph with green text and numbers&#10;&#10;Description automatically generated">
            <a:extLst>
              <a:ext uri="{FF2B5EF4-FFF2-40B4-BE49-F238E27FC236}">
                <a16:creationId xmlns:a16="http://schemas.microsoft.com/office/drawing/2014/main" id="{AA0BCD75-9730-A664-FE14-07F97F762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592924" y="1524923"/>
            <a:ext cx="3095949" cy="2638792"/>
          </a:xfrm>
        </p:spPr>
      </p:pic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D1821DCC-52D2-B0B0-2F1B-ACD00B40A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62448"/>
              </p:ext>
            </p:extLst>
          </p:nvPr>
        </p:nvGraphicFramePr>
        <p:xfrm>
          <a:off x="2592924" y="4366517"/>
          <a:ext cx="2945673" cy="1867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84A21F94-11B4-233A-6C77-0FA77F4ED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2084047"/>
              </p:ext>
            </p:extLst>
          </p:nvPr>
        </p:nvGraphicFramePr>
        <p:xfrm>
          <a:off x="5835721" y="4279388"/>
          <a:ext cx="5668890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1639282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8FB0-E027-D80C-ADD4-B2182BAB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81400"/>
          </a:xfrm>
        </p:spPr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Liquidity Position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5" name="Content Placeholder 4" descr="A graph with green line and numbers on a black background&#10;&#10;Description automatically generated">
            <a:extLst>
              <a:ext uri="{FF2B5EF4-FFF2-40B4-BE49-F238E27FC236}">
                <a16:creationId xmlns:a16="http://schemas.microsoft.com/office/drawing/2014/main" id="{017AB599-5B95-98F8-CCC6-70CD0CCE3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7393" y="2018016"/>
            <a:ext cx="4606488" cy="3211529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51335A-2FB8-252E-F3B5-4A5369EC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A8C3299-F080-8DFF-9902-10722E1C49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9768038"/>
              </p:ext>
            </p:extLst>
          </p:nvPr>
        </p:nvGraphicFramePr>
        <p:xfrm>
          <a:off x="2658039" y="1705510"/>
          <a:ext cx="4606488" cy="4194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0669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CD61-F076-DECD-886B-4F0BCE34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u="sng" dirty="0">
                <a:solidFill>
                  <a:schemeClr val="bg2"/>
                </a:solidFill>
              </a:rPr>
              <a:t>Comparison:</a:t>
            </a:r>
            <a:br>
              <a:rPr lang="en-GB" u="sng" dirty="0">
                <a:solidFill>
                  <a:schemeClr val="bg2"/>
                </a:solidFill>
              </a:rPr>
            </a:br>
            <a:r>
              <a:rPr lang="en-GB" u="sng" dirty="0">
                <a:solidFill>
                  <a:schemeClr val="bg2"/>
                </a:solidFill>
              </a:rPr>
              <a:t>Assets, Liabilities, and Shareholders Equity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10" name="Content Placeholder 9" descr="A chart with green and purple circles&#10;&#10;Description automatically generated">
            <a:extLst>
              <a:ext uri="{FF2B5EF4-FFF2-40B4-BE49-F238E27FC236}">
                <a16:creationId xmlns:a16="http://schemas.microsoft.com/office/drawing/2014/main" id="{C8583CBD-49D7-DC66-0891-3711E5168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599" y="4122087"/>
            <a:ext cx="3618708" cy="225500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0EB3AE-7429-F146-97B9-A53B9605B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560" y="44025"/>
            <a:ext cx="1640440" cy="1132061"/>
          </a:xfrm>
          <a:prstGeom prst="rect">
            <a:avLst/>
          </a:prstGeom>
        </p:spPr>
      </p:pic>
      <p:pic>
        <p:nvPicPr>
          <p:cNvPr id="12" name="Picture 11" descr="A graph of green and blue bars&#10;&#10;Description automatically generated with medium confidence">
            <a:extLst>
              <a:ext uri="{FF2B5EF4-FFF2-40B4-BE49-F238E27FC236}">
                <a16:creationId xmlns:a16="http://schemas.microsoft.com/office/drawing/2014/main" id="{DA4DD837-5AF2-100C-AAC5-AE752DF5A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9" y="1844387"/>
            <a:ext cx="3618707" cy="2255002"/>
          </a:xfrm>
          <a:prstGeom prst="rect">
            <a:avLst/>
          </a:prstGeom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587F0F62-4B55-F59D-D43D-8C38023B7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6552996"/>
              </p:ext>
            </p:extLst>
          </p:nvPr>
        </p:nvGraphicFramePr>
        <p:xfrm>
          <a:off x="2592925" y="2286825"/>
          <a:ext cx="5379821" cy="3670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08498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181F-063A-A428-3E1E-48CBEA5C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17014"/>
          </a:xfrm>
        </p:spPr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Revenue Vs Industry Average</a:t>
            </a:r>
            <a:endParaRPr lang="en-US" u="sng" dirty="0">
              <a:solidFill>
                <a:schemeClr val="bg2"/>
              </a:solidFill>
            </a:endParaRPr>
          </a:p>
        </p:txBody>
      </p:sp>
      <p:pic>
        <p:nvPicPr>
          <p:cNvPr id="6" name="Content Placeholder 5" descr="A graph with green lines and numbers&#10;&#10;Description automatically generated">
            <a:extLst>
              <a:ext uri="{FF2B5EF4-FFF2-40B4-BE49-F238E27FC236}">
                <a16:creationId xmlns:a16="http://schemas.microsoft.com/office/drawing/2014/main" id="{A40B6F40-08B4-4BEB-9A37-2AAA97646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2526" y="1541124"/>
            <a:ext cx="4382112" cy="257705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B64806-FD5C-DDBD-66B4-FD97A05F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C542D5B2-D0EF-E08F-B113-E8672EE94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638" y="1448656"/>
            <a:ext cx="4819739" cy="2669524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9D21B4C-D92C-3AED-E8B1-79E60C9D8B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4032769"/>
              </p:ext>
            </p:extLst>
          </p:nvPr>
        </p:nvGraphicFramePr>
        <p:xfrm>
          <a:off x="2592925" y="4387065"/>
          <a:ext cx="9091452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72852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36BA-4308-989B-3379-5E6C7285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Conclusion</a:t>
            </a:r>
            <a:endParaRPr lang="en-US" u="sng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8926-6A85-2B60-9CB7-1A0391A6B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46608"/>
            <a:ext cx="8915400" cy="418158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Increase in gap between Revenue and Expenses.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Balanced and Consistent enhancement in profit measures.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Secured Liquidity position implying company’s ability to face unforeseen circumstances (example: COVID).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Good Mix of Current assets and Long-term assets which results in better operations and financial stability.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Balanced Capital Structure which will help them  to </a:t>
            </a:r>
            <a:r>
              <a:rPr lang="en-US" dirty="0">
                <a:solidFill>
                  <a:schemeClr val="bg2"/>
                </a:solidFill>
              </a:rPr>
              <a:t>enhance their growth aspects and build strong hold on sound financial health.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/>
                </a:solidFill>
              </a:rPr>
              <a:t>Outperformed industry benchmark and maintained continuous improvement in most of metrics through effective cost management and strategic adaptability.</a:t>
            </a:r>
            <a:endParaRPr lang="en-GB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GB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GB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AF9AF-1075-E7F3-75C3-2835CD20F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7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B1D9-1F46-FCD6-A4A1-64F740B2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Decision:</a:t>
            </a:r>
            <a:endParaRPr lang="en-US" u="sng" dirty="0">
              <a:solidFill>
                <a:schemeClr val="bg2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69572A-7030-61B0-06A6-A247A1DDDD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424955"/>
              </p:ext>
            </p:extLst>
          </p:nvPr>
        </p:nvGraphicFramePr>
        <p:xfrm>
          <a:off x="2589212" y="2133600"/>
          <a:ext cx="9267166" cy="236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61352B7-C69B-9C2A-E074-9D9139E01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4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C0D3-C204-6D21-CAE5-7F9CB50A9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Recommendations</a:t>
            </a:r>
            <a:endParaRPr lang="en-US" u="sng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56EC-080F-F69A-019C-2F0954E77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Decrease dependency on the premium products to gain revenue.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Increase Focus on other products with the consistent improvement in footwear.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bg2"/>
                </a:solidFill>
              </a:rPr>
              <a:t>Apply broader business concept by enhancing Supply chain efficiency.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/>
                </a:solidFill>
              </a:rPr>
              <a:t>Localized level of brand advertisement.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/>
                </a:solidFill>
              </a:rPr>
              <a:t>Continuous improvement Product Innovation and Digital transformation.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48B77-7D03-37D3-48CB-C47E765E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787" y="0"/>
            <a:ext cx="1908213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65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729C-FB02-0646-20F5-7982F327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C92BBCB-AAE9-AFC6-7BD5-82D0E1BBA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7847" y="624109"/>
            <a:ext cx="9336765" cy="5437643"/>
          </a:xfrm>
        </p:spPr>
      </p:pic>
    </p:spTree>
    <p:extLst>
      <p:ext uri="{BB962C8B-B14F-4D97-AF65-F5344CB8AC3E}">
        <p14:creationId xmlns:p14="http://schemas.microsoft.com/office/powerpoint/2010/main" val="1090483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D4FF-B26F-A47B-C690-424D3A62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8BC5556-E886-FB86-F954-549C774F8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3331" y="544530"/>
            <a:ext cx="9131282" cy="5367320"/>
          </a:xfrm>
        </p:spPr>
      </p:pic>
    </p:spTree>
    <p:extLst>
      <p:ext uri="{BB962C8B-B14F-4D97-AF65-F5344CB8AC3E}">
        <p14:creationId xmlns:p14="http://schemas.microsoft.com/office/powerpoint/2010/main" val="3678792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>
                <a:solidFill>
                  <a:schemeClr val="bg2"/>
                </a:solidFill>
              </a:rPr>
              <a:t>Questions ?</a:t>
            </a:r>
          </a:p>
        </p:txBody>
      </p:sp>
      <p:pic>
        <p:nvPicPr>
          <p:cNvPr id="4" name="Content Placeholder 3" descr="image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0853" y="2080491"/>
            <a:ext cx="7788748" cy="34543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142C49-24A9-BC84-0A21-31D0D702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87" y="17471"/>
            <a:ext cx="1908213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355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2540</TotalTime>
  <Words>612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</vt:lpstr>
      <vt:lpstr>Wingdings 3</vt:lpstr>
      <vt:lpstr>Wisp</vt:lpstr>
      <vt:lpstr>Financial Analysis of NIKE Inc.   </vt:lpstr>
      <vt:lpstr>Background              </vt:lpstr>
      <vt:lpstr>Analysis Goals</vt:lpstr>
      <vt:lpstr>Analysis: Revenue and Expenses Trend</vt:lpstr>
      <vt:lpstr>Profit Margin Trend</vt:lpstr>
      <vt:lpstr>Liquidity Position</vt:lpstr>
      <vt:lpstr>Comparison: Assets, Liabilities, and Shareholders Equity</vt:lpstr>
      <vt:lpstr>Revenue Vs Industry Average</vt:lpstr>
      <vt:lpstr>Conclusion</vt:lpstr>
      <vt:lpstr>Decision:</vt:lpstr>
      <vt:lpstr>Recommendations</vt:lpstr>
      <vt:lpstr>PowerPoint Presentation</vt:lpstr>
      <vt:lpstr>PowerPoint Presentation</vt:lpstr>
      <vt:lpstr>Questions ?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on Amazon.com </dc:title>
  <dc:creator>Vijay</dc:creator>
  <cp:lastModifiedBy>Amit Lamsal</cp:lastModifiedBy>
  <cp:revision>124</cp:revision>
  <dcterms:created xsi:type="dcterms:W3CDTF">2017-06-08T15:52:47Z</dcterms:created>
  <dcterms:modified xsi:type="dcterms:W3CDTF">2024-12-18T05:44:57Z</dcterms:modified>
</cp:coreProperties>
</file>